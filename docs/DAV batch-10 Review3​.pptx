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66" r:id="rId3"/>
    <p:sldId id="267" r:id="rId4"/>
    <p:sldId id="268" r:id="rId5"/>
    <p:sldId id="286" r:id="rId6"/>
    <p:sldId id="270" r:id="rId7"/>
    <p:sldId id="271" r:id="rId8"/>
    <p:sldId id="272" r:id="rId9"/>
    <p:sldId id="273" r:id="rId10"/>
    <p:sldId id="274" r:id="rId11"/>
    <p:sldId id="275" r:id="rId12"/>
    <p:sldId id="284" r:id="rId13"/>
    <p:sldId id="287" r:id="rId14"/>
    <p:sldId id="276" r:id="rId15"/>
    <p:sldId id="277" r:id="rId16"/>
    <p:sldId id="278" r:id="rId17"/>
    <p:sldId id="279" r:id="rId18"/>
    <p:sldId id="293" r:id="rId19"/>
    <p:sldId id="294" r:id="rId20"/>
    <p:sldId id="295" r:id="rId21"/>
    <p:sldId id="296" r:id="rId22"/>
    <p:sldId id="297" r:id="rId23"/>
    <p:sldId id="282" r:id="rId24"/>
    <p:sldId id="283" r:id="rId25"/>
    <p:sldId id="288" r:id="rId26"/>
    <p:sldId id="257" r:id="rId27"/>
    <p:sldId id="258" r:id="rId28"/>
    <p:sldId id="259" r:id="rId29"/>
    <p:sldId id="260" r:id="rId30"/>
    <p:sldId id="261" r:id="rId31"/>
    <p:sldId id="289" r:id="rId32"/>
    <p:sldId id="290" r:id="rId33"/>
    <p:sldId id="291" r:id="rId34"/>
    <p:sldId id="292" r:id="rId35"/>
    <p:sldId id="262" r:id="rId36"/>
    <p:sldId id="263" r:id="rId37"/>
    <p:sldId id="264" r:id="rId38"/>
    <p:sldId id="265" r:id="rId39"/>
    <p:sldId id="285"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967" autoAdjust="0"/>
    <p:restoredTop sz="94660"/>
  </p:normalViewPr>
  <p:slideViewPr>
    <p:cSldViewPr snapToGrid="0" showGuides="1">
      <p:cViewPr varScale="1">
        <p:scale>
          <a:sx n="85" d="100"/>
          <a:sy n="85" d="100"/>
        </p:scale>
        <p:origin x="86" y="211"/>
      </p:cViewPr>
      <p:guideLst>
        <p:guide orient="horz" pos="2160"/>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RAN RATHANALA" userId="7c9aa6e1067b4cf6" providerId="LiveId" clId="{59BCDDB0-13A4-4CE9-942F-7B2A14E577DC}"/>
    <pc:docChg chg="undo custSel modSld">
      <pc:chgData name="CHARAN RATHANALA" userId="7c9aa6e1067b4cf6" providerId="LiveId" clId="{59BCDDB0-13A4-4CE9-942F-7B2A14E577DC}" dt="2026-10-12T05:39:16.935" v="44" actId="2166"/>
      <pc:docMkLst>
        <pc:docMk/>
      </pc:docMkLst>
      <pc:sldChg chg="modSp">
        <pc:chgData name="CHARAN RATHANALA" userId="7c9aa6e1067b4cf6" providerId="LiveId" clId="{59BCDDB0-13A4-4CE9-942F-7B2A14E577DC}" dt="2026-10-08T05:59:57.991" v="3"/>
        <pc:sldMkLst>
          <pc:docMk/>
          <pc:sldMk cId="0" sldId="257"/>
        </pc:sldMkLst>
        <pc:spChg chg="mod">
          <ac:chgData name="CHARAN RATHANALA" userId="7c9aa6e1067b4cf6" providerId="LiveId" clId="{59BCDDB0-13A4-4CE9-942F-7B2A14E577DC}" dt="2026-10-08T05:59:57.991" v="3"/>
          <ac:spMkLst>
            <pc:docMk/>
            <pc:sldMk cId="0" sldId="257"/>
            <ac:spMk id="3" creationId="{00000000-0000-0000-0000-000000000000}"/>
          </ac:spMkLst>
        </pc:spChg>
      </pc:sldChg>
      <pc:sldChg chg="modSp">
        <pc:chgData name="CHARAN RATHANALA" userId="7c9aa6e1067b4cf6" providerId="LiveId" clId="{59BCDDB0-13A4-4CE9-942F-7B2A14E577DC}" dt="2026-10-08T06:00:19.560" v="4"/>
        <pc:sldMkLst>
          <pc:docMk/>
          <pc:sldMk cId="0" sldId="258"/>
        </pc:sldMkLst>
        <pc:spChg chg="mod">
          <ac:chgData name="CHARAN RATHANALA" userId="7c9aa6e1067b4cf6" providerId="LiveId" clId="{59BCDDB0-13A4-4CE9-942F-7B2A14E577DC}" dt="2026-10-08T06:00:19.560" v="4"/>
          <ac:spMkLst>
            <pc:docMk/>
            <pc:sldMk cId="0" sldId="258"/>
            <ac:spMk id="3" creationId="{00000000-0000-0000-0000-000000000000}"/>
          </ac:spMkLst>
        </pc:spChg>
      </pc:sldChg>
      <pc:sldChg chg="modSp mod">
        <pc:chgData name="CHARAN RATHANALA" userId="7c9aa6e1067b4cf6" providerId="LiveId" clId="{59BCDDB0-13A4-4CE9-942F-7B2A14E577DC}" dt="2026-10-12T05:39:16.935" v="44" actId="2166"/>
        <pc:sldMkLst>
          <pc:docMk/>
          <pc:sldMk cId="0" sldId="259"/>
        </pc:sldMkLst>
        <pc:graphicFrameChg chg="mod modGraphic">
          <ac:chgData name="CHARAN RATHANALA" userId="7c9aa6e1067b4cf6" providerId="LiveId" clId="{59BCDDB0-13A4-4CE9-942F-7B2A14E577DC}" dt="2026-10-12T05:39:16.935" v="44" actId="2166"/>
          <ac:graphicFrameMkLst>
            <pc:docMk/>
            <pc:sldMk cId="0" sldId="259"/>
            <ac:graphicFrameMk id="4" creationId="{00000000-0000-0000-0000-000000000000}"/>
          </ac:graphicFrameMkLst>
        </pc:graphicFrameChg>
      </pc:sldChg>
      <pc:sldChg chg="modSp">
        <pc:chgData name="CHARAN RATHANALA" userId="7c9aa6e1067b4cf6" providerId="LiveId" clId="{59BCDDB0-13A4-4CE9-942F-7B2A14E577DC}" dt="2026-10-08T06:00:56.574" v="6"/>
        <pc:sldMkLst>
          <pc:docMk/>
          <pc:sldMk cId="0" sldId="260"/>
        </pc:sldMkLst>
        <pc:graphicFrameChg chg="mod">
          <ac:chgData name="CHARAN RATHANALA" userId="7c9aa6e1067b4cf6" providerId="LiveId" clId="{59BCDDB0-13A4-4CE9-942F-7B2A14E577DC}" dt="2026-10-08T06:00:56.574" v="6"/>
          <ac:graphicFrameMkLst>
            <pc:docMk/>
            <pc:sldMk cId="0" sldId="260"/>
            <ac:graphicFrameMk id="4" creationId="{00000000-0000-0000-0000-000000000000}"/>
          </ac:graphicFrameMkLst>
        </pc:graphicFrameChg>
      </pc:sldChg>
      <pc:sldChg chg="addSp delSp modSp">
        <pc:chgData name="CHARAN RATHANALA" userId="7c9aa6e1067b4cf6" providerId="LiveId" clId="{59BCDDB0-13A4-4CE9-942F-7B2A14E577DC}" dt="2026-10-08T06:06:07.131" v="12"/>
        <pc:sldMkLst>
          <pc:docMk/>
          <pc:sldMk cId="0" sldId="261"/>
        </pc:sldMkLst>
        <pc:graphicFrameChg chg="add mod">
          <ac:chgData name="CHARAN RATHANALA" userId="7c9aa6e1067b4cf6" providerId="LiveId" clId="{59BCDDB0-13A4-4CE9-942F-7B2A14E577DC}" dt="2026-10-08T06:05:52.172" v="11"/>
          <ac:graphicFrameMkLst>
            <pc:docMk/>
            <pc:sldMk cId="0" sldId="261"/>
            <ac:graphicFrameMk id="3" creationId="{2BF6CC18-467D-7AEC-E700-DE5D310BA9A4}"/>
          </ac:graphicFrameMkLst>
        </pc:graphicFrameChg>
      </pc:sldChg>
      <pc:sldChg chg="modSp">
        <pc:chgData name="CHARAN RATHANALA" userId="7c9aa6e1067b4cf6" providerId="LiveId" clId="{59BCDDB0-13A4-4CE9-942F-7B2A14E577DC}" dt="2026-10-08T06:09:35.582" v="17"/>
        <pc:sldMkLst>
          <pc:docMk/>
          <pc:sldMk cId="0" sldId="262"/>
        </pc:sldMkLst>
        <pc:spChg chg="mod">
          <ac:chgData name="CHARAN RATHANALA" userId="7c9aa6e1067b4cf6" providerId="LiveId" clId="{59BCDDB0-13A4-4CE9-942F-7B2A14E577DC}" dt="2026-10-08T06:09:35.582" v="17"/>
          <ac:spMkLst>
            <pc:docMk/>
            <pc:sldMk cId="0" sldId="262"/>
            <ac:spMk id="3" creationId="{00000000-0000-0000-0000-000000000000}"/>
          </ac:spMkLst>
        </pc:spChg>
      </pc:sldChg>
      <pc:sldChg chg="modSp">
        <pc:chgData name="CHARAN RATHANALA" userId="7c9aa6e1067b4cf6" providerId="LiveId" clId="{59BCDDB0-13A4-4CE9-942F-7B2A14E577DC}" dt="2026-10-08T06:09:45.435" v="18"/>
        <pc:sldMkLst>
          <pc:docMk/>
          <pc:sldMk cId="0" sldId="263"/>
        </pc:sldMkLst>
        <pc:spChg chg="mod">
          <ac:chgData name="CHARAN RATHANALA" userId="7c9aa6e1067b4cf6" providerId="LiveId" clId="{59BCDDB0-13A4-4CE9-942F-7B2A14E577DC}" dt="2026-10-08T06:09:45.435" v="18"/>
          <ac:spMkLst>
            <pc:docMk/>
            <pc:sldMk cId="0" sldId="263"/>
            <ac:spMk id="3" creationId="{00000000-0000-0000-0000-000000000000}"/>
          </ac:spMkLst>
        </pc:spChg>
      </pc:sldChg>
      <pc:sldChg chg="modSp">
        <pc:chgData name="CHARAN RATHANALA" userId="7c9aa6e1067b4cf6" providerId="LiveId" clId="{59BCDDB0-13A4-4CE9-942F-7B2A14E577DC}" dt="2026-10-08T06:09:59.735" v="19"/>
        <pc:sldMkLst>
          <pc:docMk/>
          <pc:sldMk cId="0" sldId="264"/>
        </pc:sldMkLst>
        <pc:spChg chg="mod">
          <ac:chgData name="CHARAN RATHANALA" userId="7c9aa6e1067b4cf6" providerId="LiveId" clId="{59BCDDB0-13A4-4CE9-942F-7B2A14E577DC}" dt="2026-10-08T06:09:59.735" v="19"/>
          <ac:spMkLst>
            <pc:docMk/>
            <pc:sldMk cId="0" sldId="264"/>
            <ac:spMk id="3" creationId="{00000000-0000-0000-0000-000000000000}"/>
          </ac:spMkLst>
        </pc:spChg>
      </pc:sldChg>
      <pc:sldChg chg="modSp">
        <pc:chgData name="CHARAN RATHANALA" userId="7c9aa6e1067b4cf6" providerId="LiveId" clId="{59BCDDB0-13A4-4CE9-942F-7B2A14E577DC}" dt="2026-10-08T06:10:08.131" v="20"/>
        <pc:sldMkLst>
          <pc:docMk/>
          <pc:sldMk cId="0" sldId="265"/>
        </pc:sldMkLst>
        <pc:spChg chg="mod">
          <ac:chgData name="CHARAN RATHANALA" userId="7c9aa6e1067b4cf6" providerId="LiveId" clId="{59BCDDB0-13A4-4CE9-942F-7B2A14E577DC}" dt="2026-10-08T06:10:08.131" v="20"/>
          <ac:spMkLst>
            <pc:docMk/>
            <pc:sldMk cId="0" sldId="265"/>
            <ac:spMk id="3" creationId="{00000000-0000-0000-0000-000000000000}"/>
          </ac:spMkLst>
        </pc:spChg>
      </pc:sldChg>
      <pc:sldChg chg="modSp mod">
        <pc:chgData name="CHARAN RATHANALA" userId="7c9aa6e1067b4cf6" providerId="LiveId" clId="{59BCDDB0-13A4-4CE9-942F-7B2A14E577DC}" dt="2026-10-12T04:55:35.082" v="22" actId="1076"/>
        <pc:sldMkLst>
          <pc:docMk/>
          <pc:sldMk cId="0" sldId="272"/>
        </pc:sldMkLst>
        <pc:spChg chg="mod">
          <ac:chgData name="CHARAN RATHANALA" userId="7c9aa6e1067b4cf6" providerId="LiveId" clId="{59BCDDB0-13A4-4CE9-942F-7B2A14E577DC}" dt="2026-10-12T04:55:35.082" v="22" actId="1076"/>
          <ac:spMkLst>
            <pc:docMk/>
            <pc:sldMk cId="0" sldId="272"/>
            <ac:spMk id="21522" creationId="{6FC81FC3-D892-995B-74A1-E0E9DC782B6A}"/>
          </ac:spMkLst>
        </pc:spChg>
      </pc:sldChg>
      <pc:sldChg chg="modSp mod">
        <pc:chgData name="CHARAN RATHANALA" userId="7c9aa6e1067b4cf6" providerId="LiveId" clId="{59BCDDB0-13A4-4CE9-942F-7B2A14E577DC}" dt="2026-10-12T05:17:58.631" v="43" actId="1076"/>
        <pc:sldMkLst>
          <pc:docMk/>
          <pc:sldMk cId="0" sldId="276"/>
        </pc:sldMkLst>
        <pc:spChg chg="mod">
          <ac:chgData name="CHARAN RATHANALA" userId="7c9aa6e1067b4cf6" providerId="LiveId" clId="{59BCDDB0-13A4-4CE9-942F-7B2A14E577DC}" dt="2026-10-12T05:17:58.631" v="43" actId="1076"/>
          <ac:spMkLst>
            <pc:docMk/>
            <pc:sldMk cId="0" sldId="276"/>
            <ac:spMk id="2" creationId="{00000000-0000-0000-0000-000000000000}"/>
          </ac:spMkLst>
        </pc:spChg>
      </pc:sldChg>
      <pc:sldChg chg="modSp">
        <pc:chgData name="CHARAN RATHANALA" userId="7c9aa6e1067b4cf6" providerId="LiveId" clId="{59BCDDB0-13A4-4CE9-942F-7B2A14E577DC}" dt="2026-10-08T05:52:52.450" v="0"/>
        <pc:sldMkLst>
          <pc:docMk/>
          <pc:sldMk cId="0" sldId="282"/>
        </pc:sldMkLst>
        <pc:spChg chg="mod">
          <ac:chgData name="CHARAN RATHANALA" userId="7c9aa6e1067b4cf6" providerId="LiveId" clId="{59BCDDB0-13A4-4CE9-942F-7B2A14E577DC}" dt="2026-10-08T05:52:52.450" v="0"/>
          <ac:spMkLst>
            <pc:docMk/>
            <pc:sldMk cId="0" sldId="282"/>
            <ac:spMk id="3" creationId="{00000000-0000-0000-0000-000000000000}"/>
          </ac:spMkLst>
        </pc:spChg>
      </pc:sldChg>
      <pc:sldChg chg="modSp">
        <pc:chgData name="CHARAN RATHANALA" userId="7c9aa6e1067b4cf6" providerId="LiveId" clId="{59BCDDB0-13A4-4CE9-942F-7B2A14E577DC}" dt="2026-10-08T05:54:08.621" v="1"/>
        <pc:sldMkLst>
          <pc:docMk/>
          <pc:sldMk cId="0" sldId="283"/>
        </pc:sldMkLst>
        <pc:spChg chg="mod">
          <ac:chgData name="CHARAN RATHANALA" userId="7c9aa6e1067b4cf6" providerId="LiveId" clId="{59BCDDB0-13A4-4CE9-942F-7B2A14E577DC}" dt="2026-10-08T05:54:08.621" v="1"/>
          <ac:spMkLst>
            <pc:docMk/>
            <pc:sldMk cId="0" sldId="283"/>
            <ac:spMk id="3" creationId="{00000000-0000-0000-0000-000000000000}"/>
          </ac:spMkLst>
        </pc:spChg>
      </pc:sldChg>
      <pc:sldChg chg="delSp mod">
        <pc:chgData name="CHARAN RATHANALA" userId="7c9aa6e1067b4cf6" providerId="LiveId" clId="{59BCDDB0-13A4-4CE9-942F-7B2A14E577DC}" dt="2026-10-12T05:06:56.077" v="23" actId="478"/>
        <pc:sldMkLst>
          <pc:docMk/>
          <pc:sldMk cId="2912084719" sldId="287"/>
        </pc:sldMkLst>
        <pc:spChg chg="del">
          <ac:chgData name="CHARAN RATHANALA" userId="7c9aa6e1067b4cf6" providerId="LiveId" clId="{59BCDDB0-13A4-4CE9-942F-7B2A14E577DC}" dt="2026-10-12T05:06:56.077" v="23" actId="478"/>
          <ac:spMkLst>
            <pc:docMk/>
            <pc:sldMk cId="2912084719" sldId="287"/>
            <ac:spMk id="2" creationId="{878FBF17-F07F-F591-EB06-4851E270FB15}"/>
          </ac:spMkLst>
        </pc:spChg>
      </pc:sldChg>
      <pc:sldChg chg="modSp">
        <pc:chgData name="CHARAN RATHANALA" userId="7c9aa6e1067b4cf6" providerId="LiveId" clId="{59BCDDB0-13A4-4CE9-942F-7B2A14E577DC}" dt="2026-10-08T05:54:57.138" v="2"/>
        <pc:sldMkLst>
          <pc:docMk/>
          <pc:sldMk cId="1348207037" sldId="288"/>
        </pc:sldMkLst>
        <pc:spChg chg="mod">
          <ac:chgData name="CHARAN RATHANALA" userId="7c9aa6e1067b4cf6" providerId="LiveId" clId="{59BCDDB0-13A4-4CE9-942F-7B2A14E577DC}" dt="2026-10-08T05:54:57.138" v="2"/>
          <ac:spMkLst>
            <pc:docMk/>
            <pc:sldMk cId="1348207037" sldId="288"/>
            <ac:spMk id="3" creationId="{0C0EC55F-5914-E2BF-C95F-4CF586F0245C}"/>
          </ac:spMkLst>
        </pc:spChg>
      </pc:sldChg>
      <pc:sldChg chg="addSp delSp modSp">
        <pc:chgData name="CHARAN RATHANALA" userId="7c9aa6e1067b4cf6" providerId="LiveId" clId="{59BCDDB0-13A4-4CE9-942F-7B2A14E577DC}" dt="2026-10-08T06:06:45.689" v="13"/>
        <pc:sldMkLst>
          <pc:docMk/>
          <pc:sldMk cId="770669651" sldId="289"/>
        </pc:sldMkLst>
        <pc:spChg chg="add">
          <ac:chgData name="CHARAN RATHANALA" userId="7c9aa6e1067b4cf6" providerId="LiveId" clId="{59BCDDB0-13A4-4CE9-942F-7B2A14E577DC}" dt="2026-10-08T06:06:45.689" v="13"/>
          <ac:spMkLst>
            <pc:docMk/>
            <pc:sldMk cId="770669651" sldId="289"/>
            <ac:spMk id="6" creationId="{D05751F9-466A-8D44-00D7-C210BDEC3BC8}"/>
          </ac:spMkLst>
        </pc:spChg>
        <pc:graphicFrameChg chg="add mod">
          <ac:chgData name="CHARAN RATHANALA" userId="7c9aa6e1067b4cf6" providerId="LiveId" clId="{59BCDDB0-13A4-4CE9-942F-7B2A14E577DC}" dt="2026-10-08T06:06:45.689" v="13"/>
          <ac:graphicFrameMkLst>
            <pc:docMk/>
            <pc:sldMk cId="770669651" sldId="289"/>
            <ac:graphicFrameMk id="4" creationId="{82394323-D205-F9CD-9DA0-CD9A51C9715A}"/>
          </ac:graphicFrameMkLst>
        </pc:graphicFrameChg>
      </pc:sldChg>
      <pc:sldChg chg="addSp delSp modSp">
        <pc:chgData name="CHARAN RATHANALA" userId="7c9aa6e1067b4cf6" providerId="LiveId" clId="{59BCDDB0-13A4-4CE9-942F-7B2A14E577DC}" dt="2026-10-08T06:07:33.176" v="14"/>
        <pc:sldMkLst>
          <pc:docMk/>
          <pc:sldMk cId="448622745" sldId="290"/>
        </pc:sldMkLst>
        <pc:spChg chg="add">
          <ac:chgData name="CHARAN RATHANALA" userId="7c9aa6e1067b4cf6" providerId="LiveId" clId="{59BCDDB0-13A4-4CE9-942F-7B2A14E577DC}" dt="2026-10-08T06:07:33.176" v="14"/>
          <ac:spMkLst>
            <pc:docMk/>
            <pc:sldMk cId="448622745" sldId="290"/>
            <ac:spMk id="6" creationId="{9F790E97-4B44-47DC-C18A-67A7DF9963AA}"/>
          </ac:spMkLst>
        </pc:spChg>
        <pc:graphicFrameChg chg="add mod">
          <ac:chgData name="CHARAN RATHANALA" userId="7c9aa6e1067b4cf6" providerId="LiveId" clId="{59BCDDB0-13A4-4CE9-942F-7B2A14E577DC}" dt="2026-10-08T06:07:33.176" v="14"/>
          <ac:graphicFrameMkLst>
            <pc:docMk/>
            <pc:sldMk cId="448622745" sldId="290"/>
            <ac:graphicFrameMk id="4" creationId="{9CC143CD-9E97-673B-1659-46CFF12AFF69}"/>
          </ac:graphicFrameMkLst>
        </pc:graphicFrameChg>
      </pc:sldChg>
      <pc:sldChg chg="addSp delSp modSp">
        <pc:chgData name="CHARAN RATHANALA" userId="7c9aa6e1067b4cf6" providerId="LiveId" clId="{59BCDDB0-13A4-4CE9-942F-7B2A14E577DC}" dt="2026-10-08T06:08:16.568" v="15"/>
        <pc:sldMkLst>
          <pc:docMk/>
          <pc:sldMk cId="3660340291" sldId="291"/>
        </pc:sldMkLst>
        <pc:spChg chg="add">
          <ac:chgData name="CHARAN RATHANALA" userId="7c9aa6e1067b4cf6" providerId="LiveId" clId="{59BCDDB0-13A4-4CE9-942F-7B2A14E577DC}" dt="2026-10-08T06:08:16.568" v="15"/>
          <ac:spMkLst>
            <pc:docMk/>
            <pc:sldMk cId="3660340291" sldId="291"/>
            <ac:spMk id="6" creationId="{D5A30837-05A6-4560-9E76-02865F2F6ABA}"/>
          </ac:spMkLst>
        </pc:spChg>
        <pc:graphicFrameChg chg="add mod">
          <ac:chgData name="CHARAN RATHANALA" userId="7c9aa6e1067b4cf6" providerId="LiveId" clId="{59BCDDB0-13A4-4CE9-942F-7B2A14E577DC}" dt="2026-10-08T06:08:16.568" v="15"/>
          <ac:graphicFrameMkLst>
            <pc:docMk/>
            <pc:sldMk cId="3660340291" sldId="291"/>
            <ac:graphicFrameMk id="4" creationId="{BEB8822A-23E5-8838-5A62-70BE72796B53}"/>
          </ac:graphicFrameMkLst>
        </pc:graphicFrameChg>
      </pc:sldChg>
      <pc:sldChg chg="addSp delSp modSp">
        <pc:chgData name="CHARAN RATHANALA" userId="7c9aa6e1067b4cf6" providerId="LiveId" clId="{59BCDDB0-13A4-4CE9-942F-7B2A14E577DC}" dt="2026-10-08T06:08:46.091" v="16"/>
        <pc:sldMkLst>
          <pc:docMk/>
          <pc:sldMk cId="2829591578" sldId="292"/>
        </pc:sldMkLst>
        <pc:spChg chg="add">
          <ac:chgData name="CHARAN RATHANALA" userId="7c9aa6e1067b4cf6" providerId="LiveId" clId="{59BCDDB0-13A4-4CE9-942F-7B2A14E577DC}" dt="2026-10-08T06:08:46.091" v="16"/>
          <ac:spMkLst>
            <pc:docMk/>
            <pc:sldMk cId="2829591578" sldId="292"/>
            <ac:spMk id="6" creationId="{EFFFCF02-66FB-2FF4-87B1-503CFEF7B408}"/>
          </ac:spMkLst>
        </pc:spChg>
        <pc:graphicFrameChg chg="add mod">
          <ac:chgData name="CHARAN RATHANALA" userId="7c9aa6e1067b4cf6" providerId="LiveId" clId="{59BCDDB0-13A4-4CE9-942F-7B2A14E577DC}" dt="2026-10-08T06:08:46.091" v="16"/>
          <ac:graphicFrameMkLst>
            <pc:docMk/>
            <pc:sldMk cId="2829591578" sldId="292"/>
            <ac:graphicFrameMk id="4" creationId="{DE28C7E4-8954-2EEB-3210-1FDCFA7EF549}"/>
          </ac:graphicFrameMkLst>
        </pc:graphicFrame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1.xml"/><Relationship Id="rId5" Type="http://schemas.openxmlformats.org/officeDocument/2006/relationships/tags" Target="../tags/tag21.xml"/><Relationship Id="rId4" Type="http://schemas.openxmlformats.org/officeDocument/2006/relationships/tags" Target="../tags/tag20.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slideMaster" Target="../slideMasters/slideMaster1.xml"/><Relationship Id="rId4" Type="http://schemas.openxmlformats.org/officeDocument/2006/relationships/tags" Target="../tags/tag39.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Master" Target="../slideMasters/slideMaster1.xml"/><Relationship Id="rId5" Type="http://schemas.openxmlformats.org/officeDocument/2006/relationships/tags" Target="../tags/tag53.xml"/><Relationship Id="rId4" Type="http://schemas.openxmlformats.org/officeDocument/2006/relationships/tags" Target="../tags/tag52.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slideMaster" Target="../slideMasters/slideMaster1.xml"/><Relationship Id="rId4" Type="http://schemas.openxmlformats.org/officeDocument/2006/relationships/tags" Target="../tags/tag57.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Master" Target="../slideMasters/slideMaster1.xml"/><Relationship Id="rId5" Type="http://schemas.openxmlformats.org/officeDocument/2006/relationships/tags" Target="../tags/tag62.xml"/><Relationship Id="rId4" Type="http://schemas.openxmlformats.org/officeDocument/2006/relationships/tags" Target="../tags/tag6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p>
        </p:txBody>
      </p:sp>
      <p:sp>
        <p:nvSpPr>
          <p:cNvPr id="3" name="Subtitle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6" name="Date Placeholder 15"/>
          <p:cNvSpPr>
            <a:spLocks noGrp="1"/>
          </p:cNvSpPr>
          <p:nvPr>
            <p:ph type="dt" sz="half" idx="10"/>
            <p:custDataLst>
              <p:tags r:id="rId3"/>
            </p:custDataLst>
          </p:nvPr>
        </p:nvSpPr>
        <p:spPr/>
        <p:txBody>
          <a:bodyPr/>
          <a:lstStyle/>
          <a:p>
            <a:fld id="{760FBDFE-C587-4B4C-A407-44438C67B59E}" type="datetimeFigureOut">
              <a:rPr lang="en-US" smtClean="0"/>
              <a:t>10/12/2026</a:t>
            </a:fld>
            <a:endParaRPr lang="en-US"/>
          </a:p>
        </p:txBody>
      </p:sp>
      <p:sp>
        <p:nvSpPr>
          <p:cNvPr id="17" name="Footer Placeholder 16"/>
          <p:cNvSpPr>
            <a:spLocks noGrp="1"/>
          </p:cNvSpPr>
          <p:nvPr>
            <p:ph type="ftr" sz="quarter" idx="11"/>
            <p:custDataLst>
              <p:tags r:id="rId4"/>
            </p:custDataLst>
          </p:nvPr>
        </p:nvSpPr>
        <p:spPr/>
        <p:txBody>
          <a:bodyPr/>
          <a:lstStyle/>
          <a:p>
            <a:endParaRPr lang="en-US" dirty="0"/>
          </a:p>
        </p:txBody>
      </p:sp>
      <p:sp>
        <p:nvSpPr>
          <p:cNvPr id="18" name="Slide Number Placeholder 17"/>
          <p:cNvSpPr>
            <a:spLocks noGrp="1"/>
          </p:cNvSpPr>
          <p:nvPr>
            <p:ph type="sldNum" sz="quarter" idx="12"/>
            <p:custDataLst>
              <p:tags r:id="rId5"/>
            </p:custDataLst>
          </p:nvPr>
        </p:nvSpPr>
        <p:spPr/>
        <p:txBody>
          <a:bodyPr/>
          <a:lstStyle/>
          <a:p>
            <a:fld id="{49AE70B2-8BF9-45C0-BB95-33D1B9D3A854}"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en-US"/>
              <a:t>Click to edit Master title style</a:t>
            </a:r>
          </a:p>
        </p:txBody>
      </p:sp>
      <p:sp>
        <p:nvSpPr>
          <p:cNvPr id="3" name="Content Placeholder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custDataLst>
              <p:tags r:id="rId3"/>
            </p:custDataLst>
          </p:nvPr>
        </p:nvSpPr>
        <p:spPr/>
        <p:txBody>
          <a:bodyPr/>
          <a:lstStyle/>
          <a:p>
            <a:fld id="{760FBDFE-C587-4B4C-A407-44438C67B59E}" type="datetimeFigureOut">
              <a:rPr lang="en-US" smtClean="0"/>
              <a:t>10/12/2026</a:t>
            </a:fld>
            <a:endParaRPr lang="en-US"/>
          </a:p>
        </p:txBody>
      </p:sp>
      <p:sp>
        <p:nvSpPr>
          <p:cNvPr id="5" name="Footer Placeholder 4"/>
          <p:cNvSpPr>
            <a:spLocks noGrp="1"/>
          </p:cNvSpPr>
          <p:nvPr>
            <p:ph type="ftr" sz="quarter" idx="11"/>
            <p:custDataLst>
              <p:tags r:id="rId4"/>
            </p:custDataLst>
          </p:nvPr>
        </p:nvSpPr>
        <p:spPr/>
        <p:txBody>
          <a:bodyPr/>
          <a:lstStyle/>
          <a:p>
            <a:endParaRPr lang="en-US"/>
          </a:p>
        </p:txBody>
      </p:sp>
      <p:sp>
        <p:nvSpPr>
          <p:cNvPr id="6" name="Slide Number Placeholder 5"/>
          <p:cNvSpPr>
            <a:spLocks noGrp="1"/>
          </p:cNvSpPr>
          <p:nvPr>
            <p:ph type="sldNum" sz="quarter" idx="12"/>
            <p:custDataLst>
              <p:tags r:id="rId5"/>
            </p:custDataLst>
          </p:nvPr>
        </p:nvSpPr>
        <p:spPr/>
        <p:txBody>
          <a:bodyPr/>
          <a:lstStyle/>
          <a:p>
            <a:fld id="{49AE70B2-8BF9-45C0-BB95-33D1B9D3A854}"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p>
        </p:txBody>
      </p:sp>
      <p:sp>
        <p:nvSpPr>
          <p:cNvPr id="3" name="Text Placeholder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p>
        </p:txBody>
      </p:sp>
      <p:sp>
        <p:nvSpPr>
          <p:cNvPr id="4" name="Date Placeholder 3"/>
          <p:cNvSpPr>
            <a:spLocks noGrp="1"/>
          </p:cNvSpPr>
          <p:nvPr>
            <p:ph type="dt" sz="half" idx="10"/>
            <p:custDataLst>
              <p:tags r:id="rId3"/>
            </p:custDataLst>
          </p:nvPr>
        </p:nvSpPr>
        <p:spPr/>
        <p:txBody>
          <a:bodyPr/>
          <a:lstStyle/>
          <a:p>
            <a:fld id="{760FBDFE-C587-4B4C-A407-44438C67B59E}" type="datetimeFigureOut">
              <a:rPr lang="en-US" smtClean="0"/>
              <a:t>10/12/2026</a:t>
            </a:fld>
            <a:endParaRPr lang="en-US"/>
          </a:p>
        </p:txBody>
      </p:sp>
      <p:sp>
        <p:nvSpPr>
          <p:cNvPr id="5" name="Footer Placeholder 4"/>
          <p:cNvSpPr>
            <a:spLocks noGrp="1"/>
          </p:cNvSpPr>
          <p:nvPr>
            <p:ph type="ftr" sz="quarter" idx="11"/>
            <p:custDataLst>
              <p:tags r:id="rId4"/>
            </p:custDataLst>
          </p:nvPr>
        </p:nvSpPr>
        <p:spPr/>
        <p:txBody>
          <a:bodyPr/>
          <a:lstStyle/>
          <a:p>
            <a:endParaRPr lang="en-US"/>
          </a:p>
        </p:txBody>
      </p:sp>
      <p:sp>
        <p:nvSpPr>
          <p:cNvPr id="6" name="Slide Number Placeholder 5"/>
          <p:cNvSpPr>
            <a:spLocks noGrp="1"/>
          </p:cNvSpPr>
          <p:nvPr>
            <p:ph type="sldNum" sz="quarter" idx="12"/>
            <p:custDataLst>
              <p:tags r:id="rId5"/>
            </p:custDataLst>
          </p:nvPr>
        </p:nvSpPr>
        <p:spPr/>
        <p:txBody>
          <a:bodyPr/>
          <a:lstStyle/>
          <a:p>
            <a:fld id="{49AE70B2-8BF9-45C0-BB95-33D1B9D3A854}"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en-US"/>
              <a:t>Click to edit Master title style</a:t>
            </a:r>
          </a:p>
        </p:txBody>
      </p:sp>
      <p:sp>
        <p:nvSpPr>
          <p:cNvPr id="3" name="Content Placeholder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custDataLst>
              <p:tags r:id="rId4"/>
            </p:custDataLst>
          </p:nvPr>
        </p:nvSpPr>
        <p:spPr/>
        <p:txBody>
          <a:bodyPr/>
          <a:lstStyle/>
          <a:p>
            <a:fld id="{760FBDFE-C587-4B4C-A407-44438C67B59E}" type="datetimeFigureOut">
              <a:rPr lang="en-US" smtClean="0"/>
              <a:t>10/12/2026</a:t>
            </a:fld>
            <a:endParaRPr lang="en-US"/>
          </a:p>
        </p:txBody>
      </p:sp>
      <p:sp>
        <p:nvSpPr>
          <p:cNvPr id="6" name="Footer Placeholder 5"/>
          <p:cNvSpPr>
            <a:spLocks noGrp="1"/>
          </p:cNvSpPr>
          <p:nvPr>
            <p:ph type="ftr" sz="quarter" idx="11"/>
            <p:custDataLst>
              <p:tags r:id="rId5"/>
            </p:custDataLst>
          </p:nvPr>
        </p:nvSpPr>
        <p:spPr/>
        <p:txBody>
          <a:bodyPr/>
          <a:lstStyle/>
          <a:p>
            <a:endParaRPr lang="en-US"/>
          </a:p>
        </p:txBody>
      </p:sp>
      <p:sp>
        <p:nvSpPr>
          <p:cNvPr id="7" name="Slide Number Placeholder 6"/>
          <p:cNvSpPr>
            <a:spLocks noGrp="1"/>
          </p:cNvSpPr>
          <p:nvPr>
            <p:ph type="sldNum" sz="quarter" idx="12"/>
            <p:custDataLst>
              <p:tags r:id="rId6"/>
            </p:custDataLst>
          </p:nvPr>
        </p:nvSpPr>
        <p:spPr/>
        <p:txBody>
          <a:bodyPr/>
          <a:lstStyle/>
          <a:p>
            <a:fld id="{49AE70B2-8BF9-45C0-BB95-33D1B9D3A854}"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en-US"/>
              <a:t>Click to edit Master title style</a:t>
            </a:r>
          </a:p>
        </p:txBody>
      </p:sp>
      <p:sp>
        <p:nvSpPr>
          <p:cNvPr id="3" name="Text Placeholder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p>
        </p:txBody>
      </p:sp>
      <p:sp>
        <p:nvSpPr>
          <p:cNvPr id="4" name="Content Placeholder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a:t>
            </a:r>
          </a:p>
        </p:txBody>
      </p:sp>
      <p:sp>
        <p:nvSpPr>
          <p:cNvPr id="6" name="Content Placeholder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custDataLst>
              <p:tags r:id="rId6"/>
            </p:custDataLst>
          </p:nvPr>
        </p:nvSpPr>
        <p:spPr/>
        <p:txBody>
          <a:bodyPr/>
          <a:lstStyle/>
          <a:p>
            <a:fld id="{760FBDFE-C587-4B4C-A407-44438C67B59E}" type="datetimeFigureOut">
              <a:rPr lang="en-US" smtClean="0"/>
              <a:t>10/12/2026</a:t>
            </a:fld>
            <a:endParaRPr lang="en-US"/>
          </a:p>
        </p:txBody>
      </p:sp>
      <p:sp>
        <p:nvSpPr>
          <p:cNvPr id="8" name="Footer Placeholder 7"/>
          <p:cNvSpPr>
            <a:spLocks noGrp="1"/>
          </p:cNvSpPr>
          <p:nvPr>
            <p:ph type="ftr" sz="quarter" idx="11"/>
            <p:custDataLst>
              <p:tags r:id="rId7"/>
            </p:custDataLst>
          </p:nvPr>
        </p:nvSpPr>
        <p:spPr/>
        <p:txBody>
          <a:bodyPr/>
          <a:lstStyle/>
          <a:p>
            <a:endParaRPr lang="en-US"/>
          </a:p>
        </p:txBody>
      </p:sp>
      <p:sp>
        <p:nvSpPr>
          <p:cNvPr id="9" name="Slide Number Placeholder 8"/>
          <p:cNvSpPr>
            <a:spLocks noGrp="1"/>
          </p:cNvSpPr>
          <p:nvPr>
            <p:ph type="sldNum" sz="quarter" idx="12"/>
            <p:custDataLst>
              <p:tags r:id="rId8"/>
            </p:custDataLst>
          </p:nvPr>
        </p:nvSpPr>
        <p:spPr/>
        <p:txBody>
          <a:bodyPr/>
          <a:lstStyle/>
          <a:p>
            <a:fld id="{49AE70B2-8BF9-45C0-BB95-33D1B9D3A854}"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en-US"/>
              <a:t>Click to edit Master title style</a:t>
            </a:r>
          </a:p>
        </p:txBody>
      </p:sp>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t>10/12/2026</a:t>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1"/>
            </p:custDataLst>
          </p:nvPr>
        </p:nvSpPr>
        <p:spPr/>
        <p:txBody>
          <a:bodyPr/>
          <a:lstStyle/>
          <a:p>
            <a:fld id="{760FBDFE-C587-4B4C-A407-44438C67B59E}" type="datetimeFigureOut">
              <a:rPr lang="en-US" smtClean="0"/>
              <a:t>10/12/2026</a:t>
            </a:fld>
            <a:endParaRPr lang="en-US"/>
          </a:p>
        </p:txBody>
      </p:sp>
      <p:sp>
        <p:nvSpPr>
          <p:cNvPr id="3" name="Footer Placeholder 2"/>
          <p:cNvSpPr>
            <a:spLocks noGrp="1"/>
          </p:cNvSpPr>
          <p:nvPr>
            <p:ph type="ftr" sz="quarter" idx="11"/>
            <p:custDataLst>
              <p:tags r:id="rId2"/>
            </p:custDataLst>
          </p:nvPr>
        </p:nvSpPr>
        <p:spPr/>
        <p:txBody>
          <a:bodyPr/>
          <a:lstStyle/>
          <a:p>
            <a:endParaRPr lang="en-US"/>
          </a:p>
        </p:txBody>
      </p:sp>
      <p:sp>
        <p:nvSpPr>
          <p:cNvPr id="4" name="Slide Number Placeholder 3"/>
          <p:cNvSpPr>
            <a:spLocks noGrp="1"/>
          </p:cNvSpPr>
          <p:nvPr>
            <p:ph type="sldNum" sz="quarter" idx="12"/>
            <p:custDataLst>
              <p:tags r:id="rId3"/>
            </p:custDataLst>
          </p:nvPr>
        </p:nvSpPr>
        <p:spPr/>
        <p:txBody>
          <a:bodyPr/>
          <a:lstStyle/>
          <a:p>
            <a:fld id="{49AE70B2-8BF9-45C0-BB95-33D1B9D3A854}"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a:t>Click to edit Master text styles</a:t>
            </a:r>
          </a:p>
        </p:txBody>
      </p:sp>
      <p:sp>
        <p:nvSpPr>
          <p:cNvPr id="5" name="Date Placeholder 4"/>
          <p:cNvSpPr>
            <a:spLocks noGrp="1"/>
          </p:cNvSpPr>
          <p:nvPr>
            <p:ph type="dt" sz="half" idx="10"/>
            <p:custDataLst>
              <p:tags r:id="rId3"/>
            </p:custDataLst>
          </p:nvPr>
        </p:nvSpPr>
        <p:spPr/>
        <p:txBody>
          <a:bodyPr/>
          <a:lstStyle/>
          <a:p>
            <a:fld id="{9EFD9D74-47D9-4702-A33C-335B63B48DBF}" type="datetimeFigureOut">
              <a:rPr lang="en-US" smtClean="0"/>
              <a:t>10/12/2026</a:t>
            </a:fld>
            <a:endParaRPr lang="en-US" dirty="0"/>
          </a:p>
        </p:txBody>
      </p:sp>
      <p:sp>
        <p:nvSpPr>
          <p:cNvPr id="6" name="Footer Placeholder 5"/>
          <p:cNvSpPr>
            <a:spLocks noGrp="1"/>
          </p:cNvSpPr>
          <p:nvPr>
            <p:ph type="ftr" sz="quarter" idx="11"/>
            <p:custDataLst>
              <p:tags r:id="rId4"/>
            </p:custDataLst>
          </p:nvPr>
        </p:nvSpPr>
        <p:spPr/>
        <p:txBody>
          <a:bodyPr/>
          <a:lstStyle/>
          <a:p>
            <a:endParaRPr lang="en-US" dirty="0"/>
          </a:p>
        </p:txBody>
      </p:sp>
      <p:sp>
        <p:nvSpPr>
          <p:cNvPr id="7" name="Slide Number Placeholder 6"/>
          <p:cNvSpPr>
            <a:spLocks noGrp="1"/>
          </p:cNvSpPr>
          <p:nvPr>
            <p:ph type="sldNum" sz="quarter" idx="12"/>
            <p:custDataLst>
              <p:tags r:id="rId5"/>
            </p:custDataLst>
          </p:nvPr>
        </p:nvSpPr>
        <p:spPr/>
        <p:txBody>
          <a:bodyPr/>
          <a:lstStyle/>
          <a:p>
            <a:fld id="{FABC47A4-756D-490B-A52F-7D9E2C9FC05F}" type="slidenum">
              <a:rPr lang="en-US" smtClean="0"/>
              <a:t>‹#›</a:t>
            </a:fld>
            <a:endParaRPr lang="en-US"/>
          </a:p>
        </p:txBody>
      </p:sp>
      <p:sp>
        <p:nvSpPr>
          <p:cNvPr id="9" name="Title 8"/>
          <p:cNvSpPr>
            <a:spLocks noGrp="1"/>
          </p:cNvSpPr>
          <p:nvPr>
            <p:ph type="title"/>
            <p:custDataLst>
              <p:tags r:id="rId6"/>
            </p:custDataLst>
          </p:nvPr>
        </p:nvSpPr>
        <p:spPr/>
        <p:txBody>
          <a:bodyPr/>
          <a:lstStyle/>
          <a:p>
            <a:r>
              <a:rPr lang="en-US"/>
              <a:t>Click to edit Master title style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a:t>Click to edit title</a:t>
            </a:r>
          </a:p>
        </p:txBody>
      </p:sp>
      <p:sp>
        <p:nvSpPr>
          <p:cNvPr id="3" name="Vertical Text Placeholder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custDataLst>
              <p:tags r:id="rId3"/>
            </p:custDataLst>
          </p:nvPr>
        </p:nvSpPr>
        <p:spPr/>
        <p:txBody>
          <a:bodyPr/>
          <a:lstStyle/>
          <a:p>
            <a:fld id="{760FBDFE-C587-4B4C-A407-44438C67B59E}" type="datetimeFigureOut">
              <a:rPr lang="en-US" smtClean="0"/>
              <a:t>10/12/2026</a:t>
            </a:fld>
            <a:endParaRPr lang="en-US"/>
          </a:p>
        </p:txBody>
      </p:sp>
      <p:sp>
        <p:nvSpPr>
          <p:cNvPr id="5" name="Footer Placeholder 4"/>
          <p:cNvSpPr>
            <a:spLocks noGrp="1"/>
          </p:cNvSpPr>
          <p:nvPr>
            <p:ph type="ftr" sz="quarter" idx="11"/>
            <p:custDataLst>
              <p:tags r:id="rId4"/>
            </p:custDataLst>
          </p:nvPr>
        </p:nvSpPr>
        <p:spPr/>
        <p:txBody>
          <a:bodyPr/>
          <a:lstStyle/>
          <a:p>
            <a:endParaRPr lang="en-US"/>
          </a:p>
        </p:txBody>
      </p:sp>
      <p:sp>
        <p:nvSpPr>
          <p:cNvPr id="6" name="Slide Number Placeholder 5"/>
          <p:cNvSpPr>
            <a:spLocks noGrp="1"/>
          </p:cNvSpPr>
          <p:nvPr>
            <p:ph type="sldNum" sz="quarter" idx="12"/>
            <p:custDataLst>
              <p:tags r:id="rId5"/>
            </p:custDataLst>
          </p:nvPr>
        </p:nvSpPr>
        <p:spPr/>
        <p:txBody>
          <a:bodyPr/>
          <a:lstStyle/>
          <a:p>
            <a:fld id="{49AE70B2-8BF9-45C0-BB95-33D1B9D3A854}"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1"/>
            </p:custDataLst>
          </p:nvPr>
        </p:nvSpPr>
        <p:spPr/>
        <p:txBody>
          <a:bodyPr/>
          <a:lstStyle/>
          <a:p>
            <a:fld id="{760FBDFE-C587-4B4C-A407-44438C67B59E}" type="datetimeFigureOut">
              <a:rPr lang="en-US" smtClean="0"/>
              <a:t>10/12/2026</a:t>
            </a:fld>
            <a:endParaRPr lang="en-US"/>
          </a:p>
        </p:txBody>
      </p:sp>
      <p:sp>
        <p:nvSpPr>
          <p:cNvPr id="4" name="Footer Placeholder 3"/>
          <p:cNvSpPr>
            <a:spLocks noGrp="1"/>
          </p:cNvSpPr>
          <p:nvPr>
            <p:ph type="ftr" sz="quarter" idx="11"/>
            <p:custDataLst>
              <p:tags r:id="rId2"/>
            </p:custDataLst>
          </p:nvPr>
        </p:nvSpPr>
        <p:spPr/>
        <p:txBody>
          <a:bodyPr/>
          <a:lstStyle/>
          <a:p>
            <a:endParaRPr lang="en-US"/>
          </a:p>
        </p:txBody>
      </p:sp>
      <p:sp>
        <p:nvSpPr>
          <p:cNvPr id="5" name="Slide Number Placeholder 4"/>
          <p:cNvSpPr>
            <a:spLocks noGrp="1"/>
          </p:cNvSpPr>
          <p:nvPr>
            <p:ph type="sldNum" sz="quarter" idx="12"/>
            <p:custDataLst>
              <p:tags r:id="rId3"/>
            </p:custDataLst>
          </p:nvPr>
        </p:nvSpPr>
        <p:spPr/>
        <p:txBody>
          <a:bodyPr/>
          <a:lstStyle/>
          <a:p>
            <a:fld id="{49AE70B2-8BF9-45C0-BB95-33D1B9D3A854}" type="slidenum">
              <a:rPr lang="en-US" smtClean="0"/>
              <a:t>‹#›</a:t>
            </a:fld>
            <a:endParaRPr lang="en-US"/>
          </a:p>
        </p:txBody>
      </p:sp>
      <p:sp>
        <p:nvSpPr>
          <p:cNvPr id="7" name="Content Placeholder 6"/>
          <p:cNvSpPr>
            <a:spLocks noGrp="1"/>
          </p:cNvSpPr>
          <p:nvPr>
            <p:ph sz="quarter" idx="13"/>
            <p:custDataLst>
              <p:tags r:id="rId4"/>
            </p:custDataLst>
          </p:nvPr>
        </p:nvSpPr>
        <p:spPr>
          <a:xfrm>
            <a:off x="608400" y="774000"/>
            <a:ext cx="10972800" cy="5482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1"/>
            </p:custDataLst>
          </p:nvPr>
        </p:nvSpPr>
        <p:spPr/>
        <p:txBody>
          <a:bodyPr/>
          <a:lstStyle/>
          <a:p>
            <a:fld id="{760FBDFE-C587-4B4C-A407-44438C67B59E}" type="datetimeFigureOut">
              <a:rPr lang="en-US" smtClean="0"/>
              <a:t>10/12/2026</a:t>
            </a:fld>
            <a:endParaRPr lang="en-US"/>
          </a:p>
        </p:txBody>
      </p:sp>
      <p:sp>
        <p:nvSpPr>
          <p:cNvPr id="4" name="Footer Placeholder 3"/>
          <p:cNvSpPr>
            <a:spLocks noGrp="1"/>
          </p:cNvSpPr>
          <p:nvPr>
            <p:ph type="ftr" sz="quarter" idx="11"/>
            <p:custDataLst>
              <p:tags r:id="rId2"/>
            </p:custDataLst>
          </p:nvPr>
        </p:nvSpPr>
        <p:spPr/>
        <p:txBody>
          <a:bodyPr/>
          <a:lstStyle/>
          <a:p>
            <a:endParaRPr lang="en-US"/>
          </a:p>
        </p:txBody>
      </p:sp>
      <p:sp>
        <p:nvSpPr>
          <p:cNvPr id="5" name="Slide Number Placeholder 4"/>
          <p:cNvSpPr>
            <a:spLocks noGrp="1"/>
          </p:cNvSpPr>
          <p:nvPr>
            <p:ph type="sldNum" sz="quarter" idx="12"/>
            <p:custDataLst>
              <p:tags r:id="rId3"/>
            </p:custDataLst>
          </p:nvPr>
        </p:nvSpPr>
        <p:spPr/>
        <p:txBody>
          <a:bodyPr/>
          <a:lstStyle/>
          <a:p>
            <a:fld id="{49AE70B2-8BF9-45C0-BB95-33D1B9D3A854}" type="slidenum">
              <a:rPr lang="en-US" smtClean="0"/>
              <a:t>‹#›</a:t>
            </a:fld>
            <a:endParaRPr lang="en-US"/>
          </a:p>
        </p:txBody>
      </p:sp>
      <p:sp>
        <p:nvSpPr>
          <p:cNvPr id="2" name="Title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a:t>Click to edit title</a:t>
            </a:r>
          </a:p>
        </p:txBody>
      </p:sp>
      <p:sp>
        <p:nvSpPr>
          <p:cNvPr id="7" name="Text Placeholder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18"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p>
        </p:txBody>
      </p:sp>
      <p:sp>
        <p:nvSpPr>
          <p:cNvPr id="3" name="Text Placeholder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t>10/12/2026</a:t>
            </a:fld>
            <a:endParaRPr lang="en-US"/>
          </a:p>
        </p:txBody>
      </p:sp>
      <p:sp>
        <p:nvSpPr>
          <p:cNvPr id="5" name="Footer Placeholder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t>‹#›</a:t>
            </a:fld>
            <a:endParaRPr lang="en-US" dirty="0"/>
          </a:p>
        </p:txBody>
      </p:sp>
    </p:spTree>
    <p:custDataLst>
      <p:tags r:id="rId13"/>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4.xml"/><Relationship Id="rId1" Type="http://schemas.openxmlformats.org/officeDocument/2006/relationships/tags" Target="../tags/tag63.xml"/><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tags" Target="../tags/tag67.xml"/><Relationship Id="rId2" Type="http://schemas.openxmlformats.org/officeDocument/2006/relationships/tags" Target="../tags/tag66.xml"/><Relationship Id="rId1" Type="http://schemas.openxmlformats.org/officeDocument/2006/relationships/tags" Target="../tags/tag65.xml"/><Relationship Id="rId5" Type="http://schemas.openxmlformats.org/officeDocument/2006/relationships/image" Target="../media/image1.jpeg"/><Relationship Id="rId4"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tags" Target="../tags/tag68.xml"/><Relationship Id="rId5" Type="http://schemas.openxmlformats.org/officeDocument/2006/relationships/image" Target="../media/image1.jpeg"/><Relationship Id="rId4"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2.xml"/><Relationship Id="rId1" Type="http://schemas.openxmlformats.org/officeDocument/2006/relationships/tags" Target="../tags/tag71.xml"/><Relationship Id="rId4" Type="http://schemas.openxmlformats.org/officeDocument/2006/relationships/image" Target="../media/image1.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tags" Target="../tags/tag73.xml"/><Relationship Id="rId5" Type="http://schemas.openxmlformats.org/officeDocument/2006/relationships/image" Target="../media/image1.jpeg"/><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tags" Target="../tags/tag78.xml"/><Relationship Id="rId2" Type="http://schemas.openxmlformats.org/officeDocument/2006/relationships/tags" Target="../tags/tag77.xml"/><Relationship Id="rId1" Type="http://schemas.openxmlformats.org/officeDocument/2006/relationships/tags" Target="../tags/tag76.xml"/><Relationship Id="rId5" Type="http://schemas.openxmlformats.org/officeDocument/2006/relationships/image" Target="../media/image1.jpeg"/><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tags" Target="../tags/tag81.xml"/><Relationship Id="rId2" Type="http://schemas.openxmlformats.org/officeDocument/2006/relationships/tags" Target="../tags/tag80.xml"/><Relationship Id="rId1" Type="http://schemas.openxmlformats.org/officeDocument/2006/relationships/tags" Target="../tags/tag79.xml"/><Relationship Id="rId5" Type="http://schemas.openxmlformats.org/officeDocument/2006/relationships/image" Target="../media/image1.jpeg"/><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tags" Target="../tags/tag84.xml"/><Relationship Id="rId2" Type="http://schemas.openxmlformats.org/officeDocument/2006/relationships/tags" Target="../tags/tag83.xml"/><Relationship Id="rId1" Type="http://schemas.openxmlformats.org/officeDocument/2006/relationships/tags" Target="../tags/tag82.xml"/><Relationship Id="rId5" Type="http://schemas.openxmlformats.org/officeDocument/2006/relationships/image" Target="../media/image1.jpeg"/><Relationship Id="rId4"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tags" Target="../tags/tag85.xml"/><Relationship Id="rId5" Type="http://schemas.openxmlformats.org/officeDocument/2006/relationships/image" Target="../media/image1.jpeg"/><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9.xml"/><Relationship Id="rId1" Type="http://schemas.openxmlformats.org/officeDocument/2006/relationships/tags" Target="../tags/tag88.xml"/><Relationship Id="rId4" Type="http://schemas.openxmlformats.org/officeDocument/2006/relationships/image" Target="../media/image1.jpe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1.xml"/><Relationship Id="rId1" Type="http://schemas.openxmlformats.org/officeDocument/2006/relationships/tags" Target="../tags/tag90.xml"/><Relationship Id="rId4" Type="http://schemas.openxmlformats.org/officeDocument/2006/relationships/image" Target="../media/image1.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3.xml"/><Relationship Id="rId1" Type="http://schemas.openxmlformats.org/officeDocument/2006/relationships/tags" Target="../tags/tag92.xml"/><Relationship Id="rId5" Type="http://schemas.openxmlformats.org/officeDocument/2006/relationships/image" Target="../media/image2.png"/><Relationship Id="rId4" Type="http://schemas.openxmlformats.org/officeDocument/2006/relationships/image" Target="../media/image1.jpeg"/></Relationships>
</file>

<file path=ppt/slides/_rels/slide15.xml.rels><?xml version="1.0" encoding="UTF-8" standalone="yes"?>
<Relationships xmlns="http://schemas.openxmlformats.org/package/2006/relationships"><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tags" Target="../tags/tag94.xml"/><Relationship Id="rId5" Type="http://schemas.openxmlformats.org/officeDocument/2006/relationships/image" Target="../media/image1.jpeg"/><Relationship Id="rId4"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jpe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ags" Target="../tags/tag99.xml"/><Relationship Id="rId5" Type="http://schemas.openxmlformats.org/officeDocument/2006/relationships/image" Target="../media/image6.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 Id="rId5" Type="http://schemas.openxmlformats.org/officeDocument/2006/relationships/image" Target="../media/image1.jpeg"/><Relationship Id="rId4"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tags" Target="../tags/tag105.xml"/><Relationship Id="rId2" Type="http://schemas.openxmlformats.org/officeDocument/2006/relationships/tags" Target="../tags/tag104.xml"/><Relationship Id="rId1" Type="http://schemas.openxmlformats.org/officeDocument/2006/relationships/tags" Target="../tags/tag103.xml"/><Relationship Id="rId5" Type="http://schemas.openxmlformats.org/officeDocument/2006/relationships/image" Target="../media/image1.jpeg"/><Relationship Id="rId4"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tags" Target="../tags/tag108.xml"/><Relationship Id="rId2" Type="http://schemas.openxmlformats.org/officeDocument/2006/relationships/tags" Target="../tags/tag107.xml"/><Relationship Id="rId1" Type="http://schemas.openxmlformats.org/officeDocument/2006/relationships/tags" Target="../tags/tag106.xml"/><Relationship Id="rId5" Type="http://schemas.openxmlformats.org/officeDocument/2006/relationships/image" Target="../media/image1.jpeg"/><Relationship Id="rId4"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tags" Target="../tags/tag109.xml"/><Relationship Id="rId5" Type="http://schemas.openxmlformats.org/officeDocument/2006/relationships/image" Target="../media/image1.jpeg"/><Relationship Id="rId4"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3.xml"/><Relationship Id="rId1" Type="http://schemas.openxmlformats.org/officeDocument/2006/relationships/tags" Target="../tags/tag112.xml"/><Relationship Id="rId4" Type="http://schemas.openxmlformats.org/officeDocument/2006/relationships/image" Target="../media/image1.jpe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5.xml"/><Relationship Id="rId1" Type="http://schemas.openxmlformats.org/officeDocument/2006/relationships/tags" Target="../tags/tag114.xml"/><Relationship Id="rId4" Type="http://schemas.openxmlformats.org/officeDocument/2006/relationships/image" Target="../media/image1.jpe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7.xml"/><Relationship Id="rId1" Type="http://schemas.openxmlformats.org/officeDocument/2006/relationships/tags" Target="../tags/tag116.xml"/><Relationship Id="rId4" Type="http://schemas.openxmlformats.org/officeDocument/2006/relationships/image" Target="../media/image1.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tags" Target="../tags/tag120.xml"/><Relationship Id="rId2" Type="http://schemas.openxmlformats.org/officeDocument/2006/relationships/tags" Target="../tags/tag119.xml"/><Relationship Id="rId1" Type="http://schemas.openxmlformats.org/officeDocument/2006/relationships/tags" Target="../tags/tag118.xml"/><Relationship Id="rId5" Type="http://schemas.openxmlformats.org/officeDocument/2006/relationships/image" Target="../media/image1.jpeg"/><Relationship Id="rId4"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tags" Target="../tags/tag123.xml"/><Relationship Id="rId2" Type="http://schemas.openxmlformats.org/officeDocument/2006/relationships/tags" Target="../tags/tag122.xml"/><Relationship Id="rId1" Type="http://schemas.openxmlformats.org/officeDocument/2006/relationships/tags" Target="../tags/tag121.xml"/><Relationship Id="rId5" Type="http://schemas.openxmlformats.org/officeDocument/2006/relationships/image" Target="../media/image1.jpeg"/><Relationship Id="rId4"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tags" Target="../tags/tag126.xml"/><Relationship Id="rId2" Type="http://schemas.openxmlformats.org/officeDocument/2006/relationships/tags" Target="../tags/tag125.xml"/><Relationship Id="rId1" Type="http://schemas.openxmlformats.org/officeDocument/2006/relationships/tags" Target="../tags/tag124.xml"/><Relationship Id="rId5" Type="http://schemas.openxmlformats.org/officeDocument/2006/relationships/image" Target="../media/image1.jpeg"/><Relationship Id="rId4"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tags" Target="../tags/tag129.xml"/><Relationship Id="rId2" Type="http://schemas.openxmlformats.org/officeDocument/2006/relationships/tags" Target="../tags/tag128.xml"/><Relationship Id="rId1" Type="http://schemas.openxmlformats.org/officeDocument/2006/relationships/tags" Target="../tags/tag127.xml"/><Relationship Id="rId5" Type="http://schemas.openxmlformats.org/officeDocument/2006/relationships/image" Target="../media/image1.jpeg"/><Relationship Id="rId4"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1.xml"/><Relationship Id="rId1" Type="http://schemas.openxmlformats.org/officeDocument/2006/relationships/tags" Target="../tags/tag130.xml"/><Relationship Id="rId4"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2661621" y="1099242"/>
            <a:ext cx="6669254" cy="2570400"/>
          </a:xfrm>
        </p:spPr>
        <p:txBody>
          <a:bodyPr>
            <a:normAutofit/>
          </a:bodyPr>
          <a:lstStyle/>
          <a:p>
            <a:pPr>
              <a:defRPr sz="2500">
                <a:solidFill>
                  <a:srgbClr val="BAE6FD"/>
                </a:solidFill>
              </a:defRPr>
            </a:pPr>
            <a:r>
              <a:rPr lang="en-IN" b="1" dirty="0">
                <a:solidFill>
                  <a:schemeClr val="bg2">
                    <a:lumMod val="10000"/>
                  </a:schemeClr>
                </a:solidFill>
                <a:latin typeface="Times New Roman" panose="02020603050405020304" pitchFamily="18" charset="0"/>
                <a:cs typeface="Times New Roman" panose="02020603050405020304" pitchFamily="18" charset="0"/>
              </a:rPr>
              <a:t>DATA STORYTELLING TECHNIQUES </a:t>
            </a:r>
            <a:r>
              <a:rPr lang="en-IN" b="1" dirty="0">
                <a:solidFill>
                  <a:schemeClr val="tx1">
                    <a:lumMod val="95000"/>
                    <a:lumOff val="5000"/>
                  </a:schemeClr>
                </a:solidFill>
                <a:latin typeface="Times New Roman" panose="02020603050405020304" pitchFamily="18" charset="0"/>
                <a:cs typeface="Times New Roman" panose="02020603050405020304" pitchFamily="18" charset="0"/>
              </a:rPr>
              <a:t>FOR INTERACTIVE</a:t>
            </a:r>
            <a:br>
              <a:rPr lang="en-IN" b="1" dirty="0">
                <a:solidFill>
                  <a:schemeClr val="tx1">
                    <a:lumMod val="95000"/>
                    <a:lumOff val="5000"/>
                  </a:schemeClr>
                </a:solidFill>
                <a:latin typeface="Times New Roman" panose="02020603050405020304" pitchFamily="18" charset="0"/>
                <a:cs typeface="Times New Roman" panose="02020603050405020304" pitchFamily="18" charset="0"/>
              </a:rPr>
            </a:br>
            <a:r>
              <a:rPr lang="en-IN" b="1" dirty="0">
                <a:solidFill>
                  <a:schemeClr val="tx1">
                    <a:lumMod val="95000"/>
                    <a:lumOff val="5000"/>
                  </a:schemeClr>
                </a:solidFill>
                <a:latin typeface="Times New Roman" panose="02020603050405020304" pitchFamily="18" charset="0"/>
                <a:cs typeface="Times New Roman" panose="02020603050405020304" pitchFamily="18" charset="0"/>
              </a:rPr>
              <a:t>DECISION ANALYTICS</a:t>
            </a:r>
            <a:br>
              <a:rPr lang="en-IN" b="1" dirty="0">
                <a:solidFill>
                  <a:schemeClr val="tx1">
                    <a:lumMod val="95000"/>
                    <a:lumOff val="5000"/>
                  </a:schemeClr>
                </a:solidFill>
                <a:latin typeface="Times New Roman" panose="02020603050405020304" pitchFamily="18" charset="0"/>
                <a:cs typeface="Times New Roman" panose="02020603050405020304" pitchFamily="18" charset="0"/>
              </a:rPr>
            </a:br>
            <a:br>
              <a:rPr lang="en-IN" b="1" dirty="0">
                <a:solidFill>
                  <a:schemeClr val="tx1">
                    <a:lumMod val="95000"/>
                    <a:lumOff val="5000"/>
                  </a:schemeClr>
                </a:solidFill>
                <a:latin typeface="Times New Roman" panose="02020603050405020304" pitchFamily="18" charset="0"/>
                <a:cs typeface="Times New Roman" panose="02020603050405020304" pitchFamily="18" charset="0"/>
              </a:rPr>
            </a:br>
            <a:endParaRPr lang="en-IN"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21506" name="Picture 2" descr="Koneru Lakshmaiah Education Foundation, Bachupally Campus Courses ..."/>
          <p:cNvPicPr>
            <a:picLocks noChangeAspect="1" noChangeArrowheads="1"/>
          </p:cNvPicPr>
          <p:nvPr/>
        </p:nvPicPr>
        <p:blipFill>
          <a:blip r:embed="rId4"/>
          <a:srcRect t="16961" b="27101"/>
          <a:stretch>
            <a:fillRect/>
          </a:stretch>
        </p:blipFill>
        <p:spPr bwMode="auto">
          <a:xfrm>
            <a:off x="0" y="60960"/>
            <a:ext cx="2095500" cy="1145540"/>
          </a:xfrm>
          <a:prstGeom prst="rect">
            <a:avLst/>
          </a:prstGeom>
          <a:noFill/>
        </p:spPr>
      </p:pic>
      <p:sp>
        <p:nvSpPr>
          <p:cNvPr id="4" name="Text Box 3"/>
          <p:cNvSpPr txBox="1"/>
          <p:nvPr/>
        </p:nvSpPr>
        <p:spPr>
          <a:xfrm>
            <a:off x="337242" y="4419081"/>
            <a:ext cx="4834255" cy="1908215"/>
          </a:xfrm>
          <a:prstGeom prst="rect">
            <a:avLst/>
          </a:prstGeom>
          <a:noFill/>
        </p:spPr>
        <p:txBody>
          <a:bodyPr wrap="square" rtlCol="0" anchor="t">
            <a:spAutoFit/>
          </a:bodyPr>
          <a:lstStyle/>
          <a:p>
            <a:pPr algn="just">
              <a:buNone/>
            </a:pPr>
            <a:r>
              <a:rPr lang="en-US" b="1" dirty="0">
                <a:latin typeface="Times New Roman" panose="02020603050405020304" pitchFamily="18" charset="0"/>
                <a:cs typeface="Times New Roman" panose="02020603050405020304" pitchFamily="18" charset="0"/>
                <a:sym typeface="+mn-ea"/>
              </a:rPr>
              <a:t>BATCH NO – 10</a:t>
            </a:r>
            <a:endParaRPr lang="en-US" dirty="0">
              <a:latin typeface="Times New Roman" panose="02020603050405020304" pitchFamily="18" charset="0"/>
              <a:cs typeface="Times New Roman" panose="02020603050405020304" pitchFamily="18" charset="0"/>
            </a:endParaRPr>
          </a:p>
          <a:p>
            <a:pPr algn="just">
              <a:buNone/>
            </a:pPr>
            <a:r>
              <a:rPr lang="en-US" b="1" dirty="0">
                <a:latin typeface="Times New Roman" panose="02020603050405020304" pitchFamily="18" charset="0"/>
                <a:cs typeface="Times New Roman" panose="02020603050405020304" pitchFamily="18" charset="0"/>
                <a:sym typeface="+mn-ea"/>
              </a:rPr>
              <a:t>Team members</a:t>
            </a:r>
          </a:p>
          <a:p>
            <a:pPr algn="just">
              <a:buNone/>
            </a:pPr>
            <a:endParaRPr lang="en-US" dirty="0">
              <a:latin typeface="Times New Roman" panose="02020603050405020304" pitchFamily="18" charset="0"/>
              <a:cs typeface="Times New Roman" panose="02020603050405020304" pitchFamily="18" charset="0"/>
            </a:endParaRPr>
          </a:p>
          <a:p>
            <a:pPr>
              <a:defRPr sz="3400" b="1">
                <a:solidFill>
                  <a:srgbClr val="FFFFFF"/>
                </a:solidFill>
              </a:defRPr>
            </a:pPr>
            <a:r>
              <a:rPr lang="en-IN" sz="1400" dirty="0">
                <a:solidFill>
                  <a:schemeClr val="bg2">
                    <a:lumMod val="10000"/>
                  </a:schemeClr>
                </a:solidFill>
              </a:rPr>
              <a:t> </a:t>
            </a:r>
            <a:r>
              <a:rPr lang="en-IN" sz="1600" dirty="0">
                <a:solidFill>
                  <a:schemeClr val="bg2">
                    <a:lumMod val="10000"/>
                  </a:schemeClr>
                </a:solidFill>
              </a:rPr>
              <a:t>2420030121-S SAI RISHIK			     2420030140- R SAI CHARAN</a:t>
            </a:r>
          </a:p>
          <a:p>
            <a:pPr>
              <a:defRPr sz="3400" b="1">
                <a:solidFill>
                  <a:srgbClr val="FFFFFF"/>
                </a:solidFill>
              </a:defRPr>
            </a:pPr>
            <a:r>
              <a:rPr lang="en-IN" sz="1600" dirty="0">
                <a:solidFill>
                  <a:schemeClr val="bg2">
                    <a:lumMod val="10000"/>
                  </a:schemeClr>
                </a:solidFill>
              </a:rPr>
              <a:t>2420030574-D SUJAY</a:t>
            </a:r>
          </a:p>
          <a:p>
            <a:pPr>
              <a:defRPr sz="3400" b="1">
                <a:solidFill>
                  <a:srgbClr val="FFFFFF"/>
                </a:solidFill>
              </a:defRPr>
            </a:pPr>
            <a:r>
              <a:rPr lang="en-IN" sz="1600" dirty="0">
                <a:solidFill>
                  <a:schemeClr val="bg2">
                    <a:lumMod val="10000"/>
                  </a:schemeClr>
                </a:solidFill>
              </a:rPr>
              <a:t> 2420030764-K SAI TEJA</a:t>
            </a:r>
            <a:endParaRPr lang="en-US" sz="1600" dirty="0">
              <a:latin typeface="Times New Roman" panose="02020603050405020304" pitchFamily="18" charset="0"/>
              <a:cs typeface="Times New Roman" panose="02020603050405020304" pitchFamily="18" charset="0"/>
              <a:sym typeface="+mn-ea"/>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2650490" y="384810"/>
            <a:ext cx="6554470" cy="705485"/>
          </a:xfrm>
        </p:spPr>
        <p:txBody>
          <a:bodyPr/>
          <a:lstStyle/>
          <a:p>
            <a:pPr algn="ctr"/>
            <a:r>
              <a:rPr b="1">
                <a:latin typeface="Times New Roman" panose="02020603050405020304" pitchFamily="18" charset="0"/>
                <a:cs typeface="Times New Roman" panose="02020603050405020304" pitchFamily="18" charset="0"/>
                <a:sym typeface="+mn-ea"/>
              </a:rPr>
              <a:t>Problem Statement</a:t>
            </a:r>
            <a:endParaRPr lang="en-US" b="1"/>
          </a:p>
        </p:txBody>
      </p:sp>
      <p:sp>
        <p:nvSpPr>
          <p:cNvPr id="3" name="Content Placeholder 2"/>
          <p:cNvSpPr>
            <a:spLocks noGrp="1"/>
          </p:cNvSpPr>
          <p:nvPr>
            <p:ph idx="1"/>
            <p:custDataLst>
              <p:tags r:id="rId3"/>
            </p:custDataLst>
          </p:nvPr>
        </p:nvSpPr>
        <p:spPr/>
        <p:txBody>
          <a:bodyPr>
            <a:normAutofit fontScale="92500" lnSpcReduction="20000"/>
          </a:bodyPr>
          <a:lstStyle/>
          <a:p>
            <a:pPr>
              <a:defRPr sz="1250">
                <a:solidFill>
                  <a:srgbClr val="1E293B"/>
                </a:solidFill>
              </a:defRPr>
            </a:pPr>
            <a:r>
              <a:rPr lang="en-US" sz="2000" dirty="0"/>
              <a:t>Traditional data analysis often presents information through static reports, isolated charts, and numerical summaries, making it difficult to identify meaningful patterns, relationships, and insights. As data becomes larger and more complex, decision-makers need clearer ways to connect findings. The project proposes an interactive approach combining analysis, visualization, storytelling, and decision analytics to transform complex data into understandable insights.</a:t>
            </a:r>
          </a:p>
          <a:p>
            <a:pPr>
              <a:defRPr sz="1250">
                <a:solidFill>
                  <a:srgbClr val="1E293B"/>
                </a:solidFill>
              </a:defRPr>
            </a:pPr>
            <a:endParaRPr lang="en-US" sz="2000" dirty="0"/>
          </a:p>
          <a:p>
            <a:pPr>
              <a:defRPr sz="1250">
                <a:solidFill>
                  <a:srgbClr val="1E293B"/>
                </a:solidFill>
              </a:defRPr>
            </a:pPr>
            <a:r>
              <a:rPr lang="en-US" sz="2000" dirty="0"/>
              <a:t>It enables users to explore data interactively and understand important trends, patterns, and relationships more effectively.</a:t>
            </a:r>
          </a:p>
          <a:p>
            <a:pPr>
              <a:defRPr sz="1250">
                <a:solidFill>
                  <a:srgbClr val="1E293B"/>
                </a:solidFill>
              </a:defRPr>
            </a:pPr>
            <a:r>
              <a:rPr lang="en-US" sz="2000" dirty="0"/>
              <a:t>The approach improves communication of complex analytical findings through clear visual narratives and interactive dashboards.</a:t>
            </a:r>
          </a:p>
          <a:p>
            <a:pPr>
              <a:defRPr sz="1250">
                <a:solidFill>
                  <a:srgbClr val="1E293B"/>
                </a:solidFill>
              </a:defRPr>
            </a:pPr>
            <a:r>
              <a:rPr lang="en-US" sz="2000" dirty="0"/>
              <a:t>It ultimately supports faster, clearer, and evidence-based decision-making using data-driven insights.</a:t>
            </a:r>
          </a:p>
        </p:txBody>
      </p:sp>
      <p:pic>
        <p:nvPicPr>
          <p:cNvPr id="21506" name="Picture 2" descr="Koneru Lakshmaiah Education Foundation, Bachupally Campus Courses ..."/>
          <p:cNvPicPr>
            <a:picLocks noChangeAspect="1" noChangeArrowheads="1"/>
          </p:cNvPicPr>
          <p:nvPr/>
        </p:nvPicPr>
        <p:blipFill>
          <a:blip r:embed="rId5"/>
          <a:srcRect t="16961" b="27101"/>
          <a:stretch>
            <a:fillRect/>
          </a:stretch>
        </p:blipFill>
        <p:spPr bwMode="auto">
          <a:xfrm>
            <a:off x="0" y="0"/>
            <a:ext cx="2095500" cy="1145540"/>
          </a:xfrm>
          <a:prstGeom prst="rect">
            <a:avLst/>
          </a:prstGeom>
          <a:noFill/>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3387090" y="440055"/>
            <a:ext cx="4573270" cy="705485"/>
          </a:xfrm>
        </p:spPr>
        <p:txBody>
          <a:bodyPr/>
          <a:lstStyle/>
          <a:p>
            <a:pPr algn="ctr"/>
            <a:r>
              <a:rPr b="1">
                <a:solidFill>
                  <a:schemeClr val="tx1"/>
                </a:solidFill>
                <a:latin typeface="Times New Roman" panose="02020603050405020304" pitchFamily="18" charset="0"/>
                <a:cs typeface="Times New Roman" panose="02020603050405020304" pitchFamily="18" charset="0"/>
                <a:sym typeface="+mn-ea"/>
              </a:rPr>
              <a:t>Objectives</a:t>
            </a:r>
            <a:endParaRPr lang="en-US" b="1">
              <a:solidFill>
                <a:schemeClr val="tx1"/>
              </a:solidFill>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custDataLst>
              <p:tags r:id="rId3"/>
            </p:custDataLst>
          </p:nvPr>
        </p:nvSpPr>
        <p:spPr>
          <a:xfrm>
            <a:off x="608330" y="1490345"/>
            <a:ext cx="10968990" cy="4008120"/>
          </a:xfrm>
        </p:spPr>
        <p:txBody>
          <a:bodyPr>
            <a:noAutofit/>
          </a:bodyPr>
          <a:lstStyle/>
          <a:p>
            <a:pPr>
              <a:spcAft>
                <a:spcPts val="1200"/>
              </a:spcAft>
              <a:defRPr sz="1600">
                <a:solidFill>
                  <a:srgbClr val="1E293B"/>
                </a:solidFill>
              </a:defRPr>
            </a:pPr>
            <a:r>
              <a:rPr lang="en-US" dirty="0"/>
              <a:t> To Develop an interactive platform for analyzing and presenting complex datasets through data storytelling.</a:t>
            </a:r>
          </a:p>
          <a:p>
            <a:pPr>
              <a:spcAft>
                <a:spcPts val="1200"/>
              </a:spcAft>
              <a:defRPr sz="1600">
                <a:solidFill>
                  <a:srgbClr val="1E293B"/>
                </a:solidFill>
              </a:defRPr>
            </a:pPr>
            <a:r>
              <a:rPr lang="en-US" dirty="0"/>
              <a:t> To  Apply trend analysis, comparison analysis, KPI storytelling, drill-down analysis, and interactive filtering.</a:t>
            </a:r>
          </a:p>
          <a:p>
            <a:pPr>
              <a:spcAft>
                <a:spcPts val="1200"/>
              </a:spcAft>
              <a:defRPr sz="1600">
                <a:solidFill>
                  <a:srgbClr val="1E293B"/>
                </a:solidFill>
              </a:defRPr>
            </a:pPr>
            <a:r>
              <a:rPr lang="en-US" dirty="0"/>
              <a:t>To Design  interactive visualizations and dashboards to communicate findings effectively.</a:t>
            </a:r>
          </a:p>
          <a:p>
            <a:pPr>
              <a:spcAft>
                <a:spcPts val="1200"/>
              </a:spcAft>
              <a:defRPr sz="1600">
                <a:solidFill>
                  <a:srgbClr val="1E293B"/>
                </a:solidFill>
              </a:defRPr>
            </a:pPr>
            <a:r>
              <a:rPr lang="en-US" dirty="0"/>
              <a:t> </a:t>
            </a:r>
            <a:r>
              <a:rPr lang="en-US" sz="1600" dirty="0"/>
              <a:t>To integrate multiple retail and sales datasets to establish meaningful connections between analytical findings and generate coherent data stories..</a:t>
            </a:r>
            <a:endParaRPr lang="en-US" dirty="0"/>
          </a:p>
          <a:p>
            <a:r>
              <a:rPr lang="en-US" sz="1600" dirty="0"/>
              <a:t>To enhance human-guided interpretation by transforming analytical findings into clear, structured, and actionable data stories using visualizations, KPIs, and narrative insights.</a:t>
            </a:r>
          </a:p>
          <a:p>
            <a:r>
              <a:rPr lang="en-US" sz="1600" dirty="0"/>
              <a:t>To evaluate analytical findings across multiple datasets and generate actionable insights to support effective and evidence-based business decisions.</a:t>
            </a:r>
            <a:endParaRPr lang="en-US" dirty="0"/>
          </a:p>
        </p:txBody>
      </p:sp>
      <p:pic>
        <p:nvPicPr>
          <p:cNvPr id="21506" name="Picture 2" descr="Koneru Lakshmaiah Education Foundation, Bachupally Campus Courses ..."/>
          <p:cNvPicPr>
            <a:picLocks noChangeAspect="1" noChangeArrowheads="1"/>
          </p:cNvPicPr>
          <p:nvPr/>
        </p:nvPicPr>
        <p:blipFill>
          <a:blip r:embed="rId5"/>
          <a:srcRect t="16961" b="27101"/>
          <a:stretch>
            <a:fillRect/>
          </a:stretch>
        </p:blipFill>
        <p:spPr bwMode="auto">
          <a:xfrm>
            <a:off x="0" y="0"/>
            <a:ext cx="2095500" cy="1145540"/>
          </a:xfrm>
          <a:prstGeom prst="rect">
            <a:avLst/>
          </a:prstGeom>
          <a:noFill/>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2865755" y="537210"/>
            <a:ext cx="6267450" cy="543560"/>
          </a:xfrm>
        </p:spPr>
        <p:txBody>
          <a:bodyPr>
            <a:normAutofit fontScale="90000"/>
          </a:bodyPr>
          <a:lstStyle/>
          <a:p>
            <a:pPr algn="ctr"/>
            <a:r>
              <a:rPr lang="en-US" b="1" dirty="0">
                <a:latin typeface="Times New Roman" panose="02020603050405020304" pitchFamily="18" charset="0"/>
                <a:cs typeface="Times New Roman" panose="02020603050405020304" pitchFamily="18" charset="0"/>
                <a:sym typeface="+mn-ea"/>
              </a:rPr>
              <a:t>Literature Survey</a:t>
            </a:r>
            <a:br>
              <a:rPr lang="en-US" b="1" dirty="0">
                <a:latin typeface="Times New Roman" panose="02020603050405020304" pitchFamily="18" charset="0"/>
                <a:cs typeface="Times New Roman" panose="02020603050405020304" pitchFamily="18" charset="0"/>
                <a:sym typeface="+mn-ea"/>
              </a:rPr>
            </a:br>
            <a:endParaRPr lang="en-US" b="1"/>
          </a:p>
        </p:txBody>
      </p:sp>
      <p:pic>
        <p:nvPicPr>
          <p:cNvPr id="21506" name="Picture 2" descr="Koneru Lakshmaiah Education Foundation, Bachupally Campus Courses ..."/>
          <p:cNvPicPr>
            <a:picLocks noChangeAspect="1" noChangeArrowheads="1"/>
          </p:cNvPicPr>
          <p:nvPr/>
        </p:nvPicPr>
        <p:blipFill>
          <a:blip r:embed="rId4"/>
          <a:srcRect t="16961" b="27101"/>
          <a:stretch>
            <a:fillRect/>
          </a:stretch>
        </p:blipFill>
        <p:spPr bwMode="auto">
          <a:xfrm>
            <a:off x="0" y="0"/>
            <a:ext cx="2095500" cy="1145540"/>
          </a:xfrm>
          <a:prstGeom prst="rect">
            <a:avLst/>
          </a:prstGeom>
          <a:noFill/>
        </p:spPr>
      </p:pic>
      <p:graphicFrame>
        <p:nvGraphicFramePr>
          <p:cNvPr id="6" name="Content Placeholder 5">
            <a:extLst>
              <a:ext uri="{FF2B5EF4-FFF2-40B4-BE49-F238E27FC236}">
                <a16:creationId xmlns:a16="http://schemas.microsoft.com/office/drawing/2014/main" id="{C16C2CE0-DACC-633D-F48B-205CDD63455C}"/>
              </a:ext>
            </a:extLst>
          </p:cNvPr>
          <p:cNvGraphicFramePr>
            <a:graphicFrameLocks noGrp="1"/>
          </p:cNvGraphicFramePr>
          <p:nvPr>
            <p:ph idx="1"/>
            <p:extLst>
              <p:ext uri="{D42A27DB-BD31-4B8C-83A1-F6EECF244321}">
                <p14:modId xmlns:p14="http://schemas.microsoft.com/office/powerpoint/2010/main" val="3204395632"/>
              </p:ext>
            </p:extLst>
          </p:nvPr>
        </p:nvGraphicFramePr>
        <p:xfrm>
          <a:off x="611187" y="966961"/>
          <a:ext cx="10969625" cy="5562934"/>
        </p:xfrm>
        <a:graphic>
          <a:graphicData uri="http://schemas.openxmlformats.org/drawingml/2006/table">
            <a:tbl>
              <a:tblPr/>
              <a:tblGrid>
                <a:gridCol w="2193925">
                  <a:extLst>
                    <a:ext uri="{9D8B030D-6E8A-4147-A177-3AD203B41FA5}">
                      <a16:colId xmlns:a16="http://schemas.microsoft.com/office/drawing/2014/main" val="3398557340"/>
                    </a:ext>
                  </a:extLst>
                </a:gridCol>
                <a:gridCol w="2193925">
                  <a:extLst>
                    <a:ext uri="{9D8B030D-6E8A-4147-A177-3AD203B41FA5}">
                      <a16:colId xmlns:a16="http://schemas.microsoft.com/office/drawing/2014/main" val="3435052988"/>
                    </a:ext>
                  </a:extLst>
                </a:gridCol>
                <a:gridCol w="2193925">
                  <a:extLst>
                    <a:ext uri="{9D8B030D-6E8A-4147-A177-3AD203B41FA5}">
                      <a16:colId xmlns:a16="http://schemas.microsoft.com/office/drawing/2014/main" val="537810739"/>
                    </a:ext>
                  </a:extLst>
                </a:gridCol>
                <a:gridCol w="2193925">
                  <a:extLst>
                    <a:ext uri="{9D8B030D-6E8A-4147-A177-3AD203B41FA5}">
                      <a16:colId xmlns:a16="http://schemas.microsoft.com/office/drawing/2014/main" val="3195673517"/>
                    </a:ext>
                  </a:extLst>
                </a:gridCol>
                <a:gridCol w="2193925">
                  <a:extLst>
                    <a:ext uri="{9D8B030D-6E8A-4147-A177-3AD203B41FA5}">
                      <a16:colId xmlns:a16="http://schemas.microsoft.com/office/drawing/2014/main" val="4011879382"/>
                    </a:ext>
                  </a:extLst>
                </a:gridCol>
              </a:tblGrid>
              <a:tr h="270420">
                <a:tc>
                  <a:txBody>
                    <a:bodyPr/>
                    <a:lstStyle/>
                    <a:p>
                      <a:pPr algn="r">
                        <a:buNone/>
                      </a:pPr>
                      <a:r>
                        <a:rPr lang="en-IN" sz="1000"/>
                        <a:t>S.NO</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Research Paper</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Main Contribution</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Limitation / Observation</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Relevance</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050378901"/>
                  </a:ext>
                </a:extLst>
              </a:tr>
              <a:tr h="1197576">
                <a:tc>
                  <a:txBody>
                    <a:bodyPr/>
                    <a:lstStyle/>
                    <a:p>
                      <a:pPr algn="r">
                        <a:buNone/>
                      </a:pPr>
                      <a:r>
                        <a:rPr lang="en-IN" sz="1000" b="1" dirty="0"/>
                        <a:t>1</a:t>
                      </a:r>
                      <a:endParaRPr lang="en-IN" sz="1000" dirty="0"/>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b="1" dirty="0"/>
                        <a:t>Beyond Dashboards? Designing Data Stories for Effective Use in Business Intelligence and Analytics (2023)</a:t>
                      </a:r>
                      <a:endParaRPr lang="en-IN" sz="1000" dirty="0"/>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dirty="0"/>
                        <a:t>Proposes design principles for using data storytelling with dashboards to communicate analytical insights.</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dirty="0"/>
                        <a:t>Focuses mainly on design principles and prototype evaluation.</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dirty="0"/>
                        <a:t>Supports the </a:t>
                      </a:r>
                      <a:r>
                        <a:rPr lang="en-IN" sz="1000" b="1" dirty="0"/>
                        <a:t>data storytelling</a:t>
                      </a:r>
                      <a:r>
                        <a:rPr lang="en-IN" sz="1000" dirty="0"/>
                        <a:t> component.</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802894421"/>
                  </a:ext>
                </a:extLst>
              </a:tr>
              <a:tr h="965787">
                <a:tc>
                  <a:txBody>
                    <a:bodyPr/>
                    <a:lstStyle/>
                    <a:p>
                      <a:pPr algn="r">
                        <a:buNone/>
                      </a:pPr>
                      <a:r>
                        <a:rPr lang="en-IN" sz="1000" b="1" dirty="0"/>
                        <a:t>2</a:t>
                      </a:r>
                      <a:endParaRPr lang="en-IN" sz="1000" dirty="0"/>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b="1"/>
                        <a:t>Bridging Cognitive Gaps Between User and Model in Interactive Dimension Reduction (2021)</a:t>
                      </a:r>
                      <a:endParaRPr lang="en-IN" sz="1000"/>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Improves interactive visual analytics to help users understand and explore complex data.</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Focuses mainly on interactive machine-learning and dimension-reduction environments.</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dirty="0"/>
                        <a:t>Supports </a:t>
                      </a:r>
                      <a:r>
                        <a:rPr lang="en-IN" sz="1000" b="1" dirty="0"/>
                        <a:t>interactive visual analytics</a:t>
                      </a:r>
                      <a:r>
                        <a:rPr lang="en-IN" sz="1000" dirty="0"/>
                        <a:t>.</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395151152"/>
                  </a:ext>
                </a:extLst>
              </a:tr>
              <a:tr h="1081682">
                <a:tc>
                  <a:txBody>
                    <a:bodyPr/>
                    <a:lstStyle/>
                    <a:p>
                      <a:pPr algn="r">
                        <a:buNone/>
                      </a:pPr>
                      <a:r>
                        <a:rPr lang="en-IN" sz="1000" b="1"/>
                        <a:t>3</a:t>
                      </a:r>
                      <a:endParaRPr lang="en-IN" sz="1000"/>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b="1"/>
                        <a:t>Organizational Decision Making and Analytics: An Experimental Study on Dashboard Visualizations (2024)</a:t>
                      </a:r>
                      <a:endParaRPr lang="en-IN" sz="1000"/>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Examines how dashboard format, information currency, and completeness influence decision-making quality.</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Study uses experimental dashboard visualizations and specific decision-making tasks.</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Supports </a:t>
                      </a:r>
                      <a:r>
                        <a:rPr lang="en-IN" sz="1000" b="1"/>
                        <a:t>interactive dashboard development</a:t>
                      </a:r>
                      <a:r>
                        <a:rPr lang="en-IN" sz="1000"/>
                        <a:t>.</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457621483"/>
                  </a:ext>
                </a:extLst>
              </a:tr>
              <a:tr h="1081682">
                <a:tc>
                  <a:txBody>
                    <a:bodyPr/>
                    <a:lstStyle/>
                    <a:p>
                      <a:pPr algn="r">
                        <a:buNone/>
                      </a:pPr>
                      <a:r>
                        <a:rPr lang="en-IN" sz="1000" b="1"/>
                        <a:t>4</a:t>
                      </a:r>
                      <a:endParaRPr lang="en-IN" sz="1000"/>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b="1"/>
                        <a:t>Reconciling Business Intelligence, Analytics and Decision Support Systems: More Data, Deeper Insight (2021)</a:t>
                      </a:r>
                      <a:endParaRPr lang="en-IN" sz="1000"/>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Connects BI and analytics with decision-support systems for converting data into deeper insights.</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Primarily focuses on BI&amp;A and DSS integration.</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Supports </a:t>
                      </a:r>
                      <a:r>
                        <a:rPr lang="en-IN" sz="1000" b="1"/>
                        <a:t>business intelligence and decision analytics</a:t>
                      </a:r>
                      <a:r>
                        <a:rPr lang="en-IN" sz="1000"/>
                        <a:t>.</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4164471392"/>
                  </a:ext>
                </a:extLst>
              </a:tr>
              <a:tr h="965787">
                <a:tc>
                  <a:txBody>
                    <a:bodyPr/>
                    <a:lstStyle/>
                    <a:p>
                      <a:pPr algn="r">
                        <a:buNone/>
                      </a:pPr>
                      <a:r>
                        <a:rPr lang="en-IN" sz="1000" b="1"/>
                        <a:t>5</a:t>
                      </a:r>
                      <a:endParaRPr lang="en-IN" sz="1000"/>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b="1"/>
                        <a:t>The Science of Visual Data Communication: What Works (2021)</a:t>
                      </a:r>
                      <a:endParaRPr lang="en-IN" sz="1000"/>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Provides research-based guidelines for effective data visualization and communication.</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Effective visualization still depends on audience and graphical literacy.</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dirty="0"/>
                        <a:t>Supports </a:t>
                      </a:r>
                      <a:r>
                        <a:rPr lang="en-IN" sz="1000" b="1" dirty="0"/>
                        <a:t>visual data communication</a:t>
                      </a:r>
                      <a:r>
                        <a:rPr lang="en-IN" sz="1000" dirty="0"/>
                        <a:t>.</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832601261"/>
                  </a:ext>
                </a:extLst>
              </a:tr>
            </a:tbl>
          </a:graphicData>
        </a:graphic>
      </p:graphicFrame>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E10B7-0FCC-BE95-1B5D-64A6A0563213}"/>
              </a:ext>
            </a:extLst>
          </p:cNvPr>
          <p:cNvSpPr>
            <a:spLocks noGrp="1"/>
          </p:cNvSpPr>
          <p:nvPr>
            <p:ph type="title"/>
          </p:nvPr>
        </p:nvSpPr>
        <p:spPr/>
        <p:txBody>
          <a:bodyPr/>
          <a:lstStyle/>
          <a:p>
            <a:endParaRPr lang="en-IN"/>
          </a:p>
        </p:txBody>
      </p:sp>
      <p:graphicFrame>
        <p:nvGraphicFramePr>
          <p:cNvPr id="5" name="Content Placeholder 4">
            <a:extLst>
              <a:ext uri="{FF2B5EF4-FFF2-40B4-BE49-F238E27FC236}">
                <a16:creationId xmlns:a16="http://schemas.microsoft.com/office/drawing/2014/main" id="{F00054D5-BEC5-EB14-C08B-8556766AC2CE}"/>
              </a:ext>
            </a:extLst>
          </p:cNvPr>
          <p:cNvGraphicFramePr>
            <a:graphicFrameLocks noGrp="1"/>
          </p:cNvGraphicFramePr>
          <p:nvPr>
            <p:ph idx="1"/>
            <p:extLst>
              <p:ext uri="{D42A27DB-BD31-4B8C-83A1-F6EECF244321}">
                <p14:modId xmlns:p14="http://schemas.microsoft.com/office/powerpoint/2010/main" val="279482211"/>
              </p:ext>
            </p:extLst>
          </p:nvPr>
        </p:nvGraphicFramePr>
        <p:xfrm>
          <a:off x="608013" y="1490663"/>
          <a:ext cx="10969625" cy="4525962"/>
        </p:xfrm>
        <a:graphic>
          <a:graphicData uri="http://schemas.openxmlformats.org/drawingml/2006/table">
            <a:tbl>
              <a:tblPr/>
              <a:tblGrid>
                <a:gridCol w="2193925">
                  <a:extLst>
                    <a:ext uri="{9D8B030D-6E8A-4147-A177-3AD203B41FA5}">
                      <a16:colId xmlns:a16="http://schemas.microsoft.com/office/drawing/2014/main" val="2181424374"/>
                    </a:ext>
                  </a:extLst>
                </a:gridCol>
                <a:gridCol w="2193925">
                  <a:extLst>
                    <a:ext uri="{9D8B030D-6E8A-4147-A177-3AD203B41FA5}">
                      <a16:colId xmlns:a16="http://schemas.microsoft.com/office/drawing/2014/main" val="1216892751"/>
                    </a:ext>
                  </a:extLst>
                </a:gridCol>
                <a:gridCol w="2193925">
                  <a:extLst>
                    <a:ext uri="{9D8B030D-6E8A-4147-A177-3AD203B41FA5}">
                      <a16:colId xmlns:a16="http://schemas.microsoft.com/office/drawing/2014/main" val="2459788921"/>
                    </a:ext>
                  </a:extLst>
                </a:gridCol>
                <a:gridCol w="2193925">
                  <a:extLst>
                    <a:ext uri="{9D8B030D-6E8A-4147-A177-3AD203B41FA5}">
                      <a16:colId xmlns:a16="http://schemas.microsoft.com/office/drawing/2014/main" val="1731150551"/>
                    </a:ext>
                  </a:extLst>
                </a:gridCol>
                <a:gridCol w="2193925">
                  <a:extLst>
                    <a:ext uri="{9D8B030D-6E8A-4147-A177-3AD203B41FA5}">
                      <a16:colId xmlns:a16="http://schemas.microsoft.com/office/drawing/2014/main" val="12679942"/>
                    </a:ext>
                  </a:extLst>
                </a:gridCol>
              </a:tblGrid>
              <a:tr h="185273">
                <a:tc>
                  <a:txBody>
                    <a:bodyPr/>
                    <a:lstStyle/>
                    <a:p>
                      <a:pPr algn="r">
                        <a:buNone/>
                      </a:pPr>
                      <a:r>
                        <a:rPr lang="en-IN" sz="1000"/>
                        <a:t>S.NO</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Research Paper</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dirty="0"/>
                        <a:t>Main Contribution</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dirty="0"/>
                        <a:t>Limitation / Observation</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Relevance</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770035133"/>
                  </a:ext>
                </a:extLst>
              </a:tr>
              <a:tr h="899899">
                <a:tc>
                  <a:txBody>
                    <a:bodyPr/>
                    <a:lstStyle/>
                    <a:p>
                      <a:pPr algn="r">
                        <a:buNone/>
                      </a:pPr>
                      <a:r>
                        <a:rPr lang="en-IN" sz="1000" b="1" dirty="0"/>
                        <a:t>6</a:t>
                      </a:r>
                      <a:endParaRPr lang="en-IN" sz="1000" dirty="0"/>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b="1"/>
                        <a:t>Visual Data Story Protocol: Internal Communications from Domain Expertise to Narrative Visualization Implementation (2021)</a:t>
                      </a:r>
                      <a:endParaRPr lang="en-IN" sz="1000"/>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Proposes a five-phase protocol for designing and developing effective data stories.</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dirty="0"/>
                        <a:t>Developed from a limited number of data-story projects.</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Supports </a:t>
                      </a:r>
                      <a:r>
                        <a:rPr lang="en-IN" sz="1000" b="1"/>
                        <a:t>data storytelling and narrative visualization</a:t>
                      </a:r>
                      <a:r>
                        <a:rPr lang="en-IN" sz="1000"/>
                        <a:t>.</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428883198"/>
                  </a:ext>
                </a:extLst>
              </a:tr>
              <a:tr h="899899">
                <a:tc>
                  <a:txBody>
                    <a:bodyPr/>
                    <a:lstStyle/>
                    <a:p>
                      <a:pPr algn="r">
                        <a:buNone/>
                      </a:pPr>
                      <a:r>
                        <a:rPr lang="en-IN" sz="1000" b="1" dirty="0"/>
                        <a:t>7</a:t>
                      </a:r>
                      <a:endParaRPr lang="en-IN" sz="1000" dirty="0"/>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b="1"/>
                        <a:t>Visual Analytics for Technology and Innovation Management: An Interaction Approach for Strategic Decision Making (2021/2022)</a:t>
                      </a:r>
                      <a:endParaRPr lang="en-IN" sz="1000"/>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Uses visual analytics and interaction techniques to support strategic decision-making.</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Focuses on technology and innovation management.</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Supports </a:t>
                      </a:r>
                      <a:r>
                        <a:rPr lang="en-IN" sz="1000" b="1"/>
                        <a:t>visual analytics for decision-making</a:t>
                      </a:r>
                      <a:r>
                        <a:rPr lang="en-IN" sz="1000"/>
                        <a:t>.</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27607579"/>
                  </a:ext>
                </a:extLst>
              </a:tr>
              <a:tr h="820496">
                <a:tc>
                  <a:txBody>
                    <a:bodyPr/>
                    <a:lstStyle/>
                    <a:p>
                      <a:pPr algn="r">
                        <a:buNone/>
                      </a:pPr>
                      <a:r>
                        <a:rPr lang="en-IN" sz="1000" b="1"/>
                        <a:t>8</a:t>
                      </a:r>
                      <a:endParaRPr lang="en-IN" sz="1000"/>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b="1"/>
                        <a:t>The Use of Multi-Criteria Decision-Making Methods in Business Analytics: A Comprehensive Literature Review (2022)</a:t>
                      </a:r>
                      <a:endParaRPr lang="en-IN" sz="1000"/>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Reviews how multi-criteria decision-making methods are used within business analytics.</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Focuses specifically on multi-criteria decision-making methods.</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Supports </a:t>
                      </a:r>
                      <a:r>
                        <a:rPr lang="en-IN" sz="1000" b="1"/>
                        <a:t>decision analytics</a:t>
                      </a:r>
                      <a:r>
                        <a:rPr lang="en-IN" sz="1000"/>
                        <a:t>.</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037919866"/>
                  </a:ext>
                </a:extLst>
              </a:tr>
              <a:tr h="741093">
                <a:tc>
                  <a:txBody>
                    <a:bodyPr/>
                    <a:lstStyle/>
                    <a:p>
                      <a:pPr algn="r">
                        <a:buNone/>
                      </a:pPr>
                      <a:r>
                        <a:rPr lang="en-IN" sz="1000" b="1"/>
                        <a:t>9</a:t>
                      </a:r>
                      <a:endParaRPr lang="en-IN" sz="1000"/>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b="1"/>
                        <a:t>Towards Data-Driven Decision Making: The Role of Analytical Culture and Centralization Efforts (2023)</a:t>
                      </a:r>
                      <a:endParaRPr lang="en-IN" sz="1000"/>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Examines how business analytics and analytical culture influence data-driven decision-making.</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Based on organizational survey data and managerial contexts.</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Supports </a:t>
                      </a:r>
                      <a:r>
                        <a:rPr lang="en-IN" sz="1000" b="1"/>
                        <a:t>data-driven decision-making</a:t>
                      </a:r>
                      <a:r>
                        <a:rPr lang="en-IN" sz="1000"/>
                        <a:t>.</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563435895"/>
                  </a:ext>
                </a:extLst>
              </a:tr>
              <a:tr h="979302">
                <a:tc>
                  <a:txBody>
                    <a:bodyPr/>
                    <a:lstStyle/>
                    <a:p>
                      <a:pPr algn="r">
                        <a:buNone/>
                      </a:pPr>
                      <a:r>
                        <a:rPr lang="en-IN" sz="1000" b="1"/>
                        <a:t>10</a:t>
                      </a:r>
                      <a:endParaRPr lang="en-IN" sz="1000"/>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b="1"/>
                        <a:t>The Interplay Between Data-Driven Decision-Making and Digitalization: A Firm-Level Survey of the Italian and U.S. Automotive Industries (2023)</a:t>
                      </a:r>
                      <a:endParaRPr lang="en-IN" sz="1000"/>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Examines the relationship between digitalization and data-driven decision-making in firms.</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Focuses on the automotive industry.</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dirty="0"/>
                        <a:t>Supports </a:t>
                      </a:r>
                      <a:r>
                        <a:rPr lang="en-IN" sz="1000" b="1" dirty="0"/>
                        <a:t>data-driven business decisions</a:t>
                      </a:r>
                      <a:r>
                        <a:rPr lang="en-IN" sz="1000" dirty="0"/>
                        <a:t>.</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53076998"/>
                  </a:ext>
                </a:extLst>
              </a:tr>
            </a:tbl>
          </a:graphicData>
        </a:graphic>
      </p:graphicFrame>
    </p:spTree>
    <p:extLst>
      <p:ext uri="{BB962C8B-B14F-4D97-AF65-F5344CB8AC3E}">
        <p14:creationId xmlns:p14="http://schemas.microsoft.com/office/powerpoint/2010/main" val="41924485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2284730" y="440055"/>
            <a:ext cx="7806690" cy="705485"/>
          </a:xfrm>
        </p:spPr>
        <p:txBody>
          <a:bodyPr>
            <a:normAutofit/>
          </a:bodyPr>
          <a:lstStyle/>
          <a:p>
            <a:pPr algn="ctr"/>
            <a:r>
              <a:rPr lang="en-US" b="1" dirty="0">
                <a:latin typeface="Times New Roman" panose="02020603050405020304" pitchFamily="18" charset="0"/>
                <a:ea typeface="+mj-lt"/>
                <a:cs typeface="Times New Roman" panose="02020603050405020304" pitchFamily="18" charset="0"/>
                <a:sym typeface="+mn-ea"/>
              </a:rPr>
              <a:t>       Research Gap Identification</a:t>
            </a:r>
            <a:endParaRPr lang="en-US" b="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custDataLst>
              <p:tags r:id="rId3"/>
            </p:custDataLst>
          </p:nvPr>
        </p:nvSpPr>
        <p:spPr/>
        <p:txBody>
          <a:bodyPr>
            <a:normAutofit fontScale="97500"/>
          </a:bodyPr>
          <a:lstStyle/>
          <a:p>
            <a:pPr marL="285750" indent="-285750">
              <a:buFont typeface="Arial" panose="020B0604020202020204"/>
              <a:buChar char="•"/>
            </a:pPr>
            <a:r>
              <a:rPr lang="en-IN" b="1" dirty="0"/>
              <a:t>Limited Integration of Data Storytelling:</a:t>
            </a:r>
            <a:r>
              <a:rPr lang="en-IN" dirty="0"/>
              <a:t> Existing data analytics approaches often focus separately on data analysis, visualization, or dashboards rather than combining them into a connected data story. </a:t>
            </a:r>
          </a:p>
          <a:p>
            <a:pPr marL="285750" indent="-285750">
              <a:buFont typeface="Arial" panose="020B0604020202020204"/>
              <a:buChar char="•"/>
            </a:pPr>
            <a:r>
              <a:rPr lang="en-IN" b="1" dirty="0"/>
              <a:t>Limited Connection Between Insights:</a:t>
            </a:r>
            <a:r>
              <a:rPr lang="en-IN" dirty="0"/>
              <a:t> Multiple charts and analytical results are often presented independently, making it difficult to connect trends, comparisons, and relationships into a meaningful narrative. </a:t>
            </a:r>
          </a:p>
          <a:p>
            <a:pPr marL="285750" indent="-285750">
              <a:buFont typeface="Arial" panose="020B0604020202020204"/>
              <a:buChar char="•"/>
            </a:pPr>
            <a:r>
              <a:rPr lang="en-IN" b="1" dirty="0"/>
              <a:t>Limited Human-Guided Interpretation:</a:t>
            </a:r>
            <a:r>
              <a:rPr lang="en-IN" dirty="0"/>
              <a:t> Existing visualization tools present analytical results, but there is scope for users to interpret and explain the key findings as structured data stories. </a:t>
            </a:r>
          </a:p>
          <a:p>
            <a:pPr marL="285750" indent="-285750">
              <a:buFont typeface="Arial" panose="020B0604020202020204"/>
              <a:buChar char="•"/>
            </a:pPr>
            <a:r>
              <a:rPr lang="en-IN" b="1" dirty="0"/>
              <a:t>Limited Interactive Decision Analytics:</a:t>
            </a:r>
            <a:r>
              <a:rPr lang="en-IN" dirty="0"/>
              <a:t> There is scope for an interactive platform that combines </a:t>
            </a:r>
            <a:r>
              <a:rPr lang="en-IN" b="1" dirty="0"/>
              <a:t>data analysis, visualization, storytelling, and actionable insights</a:t>
            </a:r>
            <a:r>
              <a:rPr lang="en-IN" dirty="0"/>
              <a:t> to support better data-driven decision-making.</a:t>
            </a:r>
          </a:p>
        </p:txBody>
      </p:sp>
      <p:pic>
        <p:nvPicPr>
          <p:cNvPr id="21506" name="Picture 2" descr="Koneru Lakshmaiah Education Foundation, Bachupally Campus Courses ..."/>
          <p:cNvPicPr>
            <a:picLocks noChangeAspect="1" noChangeArrowheads="1"/>
          </p:cNvPicPr>
          <p:nvPr/>
        </p:nvPicPr>
        <p:blipFill>
          <a:blip r:embed="rId5"/>
          <a:srcRect t="16961" b="27101"/>
          <a:stretch>
            <a:fillRect/>
          </a:stretch>
        </p:blipFill>
        <p:spPr bwMode="auto">
          <a:xfrm>
            <a:off x="0" y="0"/>
            <a:ext cx="2095500" cy="1145540"/>
          </a:xfrm>
          <a:prstGeom prst="rect">
            <a:avLst/>
          </a:prstGeom>
          <a:noFill/>
        </p:spPr>
      </p:pic>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3256280" y="314325"/>
            <a:ext cx="5412105" cy="705485"/>
          </a:xfrm>
        </p:spPr>
        <p:txBody>
          <a:bodyPr/>
          <a:lstStyle/>
          <a:p>
            <a:pPr algn="ctr"/>
            <a:r>
              <a:rPr lang="en-US" b="1" dirty="0">
                <a:latin typeface="Times New Roman" panose="02020603050405020304" pitchFamily="18" charset="0"/>
                <a:cs typeface="Times New Roman" panose="02020603050405020304" pitchFamily="18" charset="0"/>
                <a:sym typeface="+mn-ea"/>
              </a:rPr>
              <a:t>Innovation</a:t>
            </a:r>
            <a:endParaRPr lang="en-US" b="1"/>
          </a:p>
        </p:txBody>
      </p:sp>
      <p:sp>
        <p:nvSpPr>
          <p:cNvPr id="3" name="Content Placeholder 2"/>
          <p:cNvSpPr>
            <a:spLocks noGrp="1"/>
          </p:cNvSpPr>
          <p:nvPr>
            <p:ph idx="1"/>
            <p:custDataLst>
              <p:tags r:id="rId3"/>
            </p:custDataLst>
          </p:nvPr>
        </p:nvSpPr>
        <p:spPr/>
        <p:txBody>
          <a:bodyPr>
            <a:noAutofit/>
          </a:bodyPr>
          <a:lstStyle/>
          <a:p>
            <a:pPr>
              <a:spcAft>
                <a:spcPts val="1200"/>
              </a:spcAft>
              <a:defRPr sz="1600">
                <a:solidFill>
                  <a:srgbClr val="1E293B"/>
                </a:solidFill>
              </a:defRPr>
            </a:pPr>
            <a:r>
              <a:rPr lang="en-US" dirty="0"/>
              <a:t>• Interactive storytelling – connect multiple visualizations into a complete analytical story.</a:t>
            </a:r>
          </a:p>
          <a:p>
            <a:pPr>
              <a:spcAft>
                <a:spcPts val="1200"/>
              </a:spcAft>
              <a:defRPr sz="1600">
                <a:solidFill>
                  <a:srgbClr val="1E293B"/>
                </a:solidFill>
              </a:defRPr>
            </a:pPr>
            <a:r>
              <a:rPr lang="en-US" dirty="0"/>
              <a:t>• Human-guided interpretation – explain why important patterns occur.</a:t>
            </a:r>
          </a:p>
          <a:p>
            <a:pPr>
              <a:spcAft>
                <a:spcPts val="1200"/>
              </a:spcAft>
              <a:defRPr sz="1600">
                <a:solidFill>
                  <a:srgbClr val="1E293B"/>
                </a:solidFill>
              </a:defRPr>
            </a:pPr>
            <a:r>
              <a:rPr lang="en-US" dirty="0"/>
              <a:t>• Multi-dimensional analysis – combine trends, comparisons, customer </a:t>
            </a:r>
            <a:r>
              <a:rPr lang="en-US" dirty="0" err="1"/>
              <a:t>behaviour</a:t>
            </a:r>
            <a:r>
              <a:rPr lang="en-US" dirty="0"/>
              <a:t> and product performance.</a:t>
            </a:r>
          </a:p>
          <a:p>
            <a:pPr>
              <a:spcAft>
                <a:spcPts val="1200"/>
              </a:spcAft>
              <a:defRPr sz="1600">
                <a:solidFill>
                  <a:srgbClr val="1E293B"/>
                </a:solidFill>
              </a:defRPr>
            </a:pPr>
            <a:r>
              <a:rPr lang="en-US" dirty="0"/>
              <a:t>• Interactive exploration – filters, slicers, drill-downs and dashboards.</a:t>
            </a:r>
          </a:p>
          <a:p>
            <a:pPr>
              <a:spcAft>
                <a:spcPts val="1200"/>
              </a:spcAft>
              <a:defRPr sz="1600">
                <a:solidFill>
                  <a:srgbClr val="1E293B"/>
                </a:solidFill>
              </a:defRPr>
            </a:pPr>
            <a:r>
              <a:rPr lang="en-US" dirty="0"/>
              <a:t>• Actionable insights – convert findings into understandable business recommendations.</a:t>
            </a:r>
          </a:p>
          <a:p>
            <a:pPr>
              <a:spcAft>
                <a:spcPts val="1200"/>
              </a:spcAft>
              <a:defRPr sz="1600">
                <a:solidFill>
                  <a:srgbClr val="1E293B"/>
                </a:solidFill>
              </a:defRPr>
            </a:pPr>
            <a:r>
              <a:rPr lang="en-US" dirty="0"/>
              <a:t>• Domain-independent approach – methodology can be applied to different datasets and domains.</a:t>
            </a:r>
          </a:p>
        </p:txBody>
      </p:sp>
      <p:pic>
        <p:nvPicPr>
          <p:cNvPr id="21506" name="Picture 2" descr="Koneru Lakshmaiah Education Foundation, Bachupally Campus Courses ..."/>
          <p:cNvPicPr>
            <a:picLocks noChangeAspect="1" noChangeArrowheads="1"/>
          </p:cNvPicPr>
          <p:nvPr/>
        </p:nvPicPr>
        <p:blipFill>
          <a:blip r:embed="rId5"/>
          <a:srcRect t="16961" b="27101"/>
          <a:stretch>
            <a:fillRect/>
          </a:stretch>
        </p:blipFill>
        <p:spPr bwMode="auto">
          <a:xfrm>
            <a:off x="0" y="0"/>
            <a:ext cx="2095500" cy="1145540"/>
          </a:xfrm>
          <a:prstGeom prst="rect">
            <a:avLst/>
          </a:prstGeom>
          <a:noFill/>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3737610" y="220345"/>
            <a:ext cx="4034790" cy="705485"/>
          </a:xfrm>
        </p:spPr>
        <p:txBody>
          <a:bodyPr>
            <a:normAutofit fontScale="90000"/>
          </a:bodyPr>
          <a:lstStyle/>
          <a:p>
            <a:pPr algn="ctr"/>
            <a:br>
              <a:rPr lang="en-US" b="1" dirty="0">
                <a:latin typeface="Times New Roman" panose="02020603050405020304" pitchFamily="18" charset="0"/>
                <a:ea typeface="Calibri" panose="020F0502020204030204"/>
                <a:cs typeface="Times New Roman" panose="02020603050405020304" pitchFamily="18" charset="0"/>
              </a:rPr>
            </a:br>
            <a:r>
              <a:rPr lang="en-US" b="1" dirty="0">
                <a:latin typeface="Times New Roman" panose="02020603050405020304" pitchFamily="18" charset="0"/>
                <a:cs typeface="Times New Roman" panose="02020603050405020304" pitchFamily="18" charset="0"/>
                <a:sym typeface="+mn-ea"/>
              </a:rPr>
              <a:t>Feasibility</a:t>
            </a:r>
            <a:endParaRPr lang="en-US" b="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custDataLst>
              <p:tags r:id="rId3"/>
            </p:custDataLst>
          </p:nvPr>
        </p:nvSpPr>
        <p:spPr/>
        <p:txBody>
          <a:bodyPr/>
          <a:lstStyle/>
          <a:p>
            <a:pPr algn="just"/>
            <a:endParaRPr lang="en-US" alt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21506" name="Picture 2" descr="Koneru Lakshmaiah Education Foundation, Bachupally Campus Courses ..."/>
          <p:cNvPicPr>
            <a:picLocks noChangeAspect="1" noChangeArrowheads="1"/>
          </p:cNvPicPr>
          <p:nvPr/>
        </p:nvPicPr>
        <p:blipFill>
          <a:blip r:embed="rId5"/>
          <a:srcRect t="16961" b="27101"/>
          <a:stretch>
            <a:fillRect/>
          </a:stretch>
        </p:blipFill>
        <p:spPr bwMode="auto">
          <a:xfrm>
            <a:off x="0" y="0"/>
            <a:ext cx="2095500" cy="1145540"/>
          </a:xfrm>
          <a:prstGeom prst="rect">
            <a:avLst/>
          </a:prstGeom>
          <a:noFill/>
        </p:spPr>
      </p:pic>
      <p:sp>
        <p:nvSpPr>
          <p:cNvPr id="21505" name="Rounded Rectangle 3">
            <a:extLst>
              <a:ext uri="{FF2B5EF4-FFF2-40B4-BE49-F238E27FC236}">
                <a16:creationId xmlns:a16="http://schemas.microsoft.com/office/drawing/2014/main" id="{FCF2F0BF-ACF1-EA9F-3F2A-6556C92B9C8A}"/>
              </a:ext>
            </a:extLst>
          </p:cNvPr>
          <p:cNvSpPr/>
          <p:nvPr/>
        </p:nvSpPr>
        <p:spPr>
          <a:xfrm>
            <a:off x="640080" y="1417320"/>
            <a:ext cx="3474720" cy="210312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08" name="Rectangle 21507">
            <a:extLst>
              <a:ext uri="{FF2B5EF4-FFF2-40B4-BE49-F238E27FC236}">
                <a16:creationId xmlns:a16="http://schemas.microsoft.com/office/drawing/2014/main" id="{6A040004-1597-A8B3-6C66-025D5E872C2C}"/>
              </a:ext>
            </a:extLst>
          </p:cNvPr>
          <p:cNvSpPr/>
          <p:nvPr/>
        </p:nvSpPr>
        <p:spPr>
          <a:xfrm>
            <a:off x="640080" y="1417320"/>
            <a:ext cx="3474720" cy="73152"/>
          </a:xfrm>
          <a:prstGeom prst="rect">
            <a:avLst/>
          </a:prstGeom>
          <a:solidFill>
            <a:srgbClr val="26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10" name="TextBox 21509">
            <a:extLst>
              <a:ext uri="{FF2B5EF4-FFF2-40B4-BE49-F238E27FC236}">
                <a16:creationId xmlns:a16="http://schemas.microsoft.com/office/drawing/2014/main" id="{EE44CBC1-6395-CB18-6A7D-CB9B415A4040}"/>
              </a:ext>
            </a:extLst>
          </p:cNvPr>
          <p:cNvSpPr txBox="1"/>
          <p:nvPr/>
        </p:nvSpPr>
        <p:spPr>
          <a:xfrm>
            <a:off x="822959" y="1581912"/>
            <a:ext cx="3108960" cy="411480"/>
          </a:xfrm>
          <a:prstGeom prst="rect">
            <a:avLst/>
          </a:prstGeom>
          <a:noFill/>
        </p:spPr>
        <p:txBody>
          <a:bodyPr wrap="none">
            <a:spAutoFit/>
          </a:bodyPr>
          <a:lstStyle/>
          <a:p>
            <a:pPr>
              <a:defRPr sz="1600" b="1">
                <a:solidFill>
                  <a:srgbClr val="121F35"/>
                </a:solidFill>
              </a:defRPr>
            </a:pPr>
            <a:r>
              <a:t>Technical Feasibility</a:t>
            </a:r>
          </a:p>
        </p:txBody>
      </p:sp>
      <p:sp>
        <p:nvSpPr>
          <p:cNvPr id="21512" name="TextBox 21511">
            <a:extLst>
              <a:ext uri="{FF2B5EF4-FFF2-40B4-BE49-F238E27FC236}">
                <a16:creationId xmlns:a16="http://schemas.microsoft.com/office/drawing/2014/main" id="{3E59BFF2-99E6-25E3-7926-10D95F0BAF01}"/>
              </a:ext>
            </a:extLst>
          </p:cNvPr>
          <p:cNvSpPr txBox="1"/>
          <p:nvPr/>
        </p:nvSpPr>
        <p:spPr>
          <a:xfrm>
            <a:off x="822959" y="2057400"/>
            <a:ext cx="3108960" cy="1325879"/>
          </a:xfrm>
          <a:prstGeom prst="rect">
            <a:avLst/>
          </a:prstGeom>
          <a:noFill/>
        </p:spPr>
        <p:txBody>
          <a:bodyPr wrap="square">
            <a:spAutoFit/>
          </a:bodyPr>
          <a:lstStyle/>
          <a:p>
            <a:pPr>
              <a:defRPr sz="1250">
                <a:solidFill>
                  <a:srgbClr val="1E293B"/>
                </a:solidFill>
              </a:defRPr>
            </a:pPr>
            <a:r>
              <a:rPr dirty="0"/>
              <a:t>Python, Pandas, NumPy, </a:t>
            </a:r>
            <a:r>
              <a:rPr dirty="0" err="1"/>
              <a:t>Plotly</a:t>
            </a:r>
            <a:r>
              <a:rPr dirty="0"/>
              <a:t>, Power BI, Flask, HTML, CSS and JavaScript.</a:t>
            </a:r>
          </a:p>
        </p:txBody>
      </p:sp>
      <p:sp>
        <p:nvSpPr>
          <p:cNvPr id="21514" name="Rounded Rectangle 7">
            <a:extLst>
              <a:ext uri="{FF2B5EF4-FFF2-40B4-BE49-F238E27FC236}">
                <a16:creationId xmlns:a16="http://schemas.microsoft.com/office/drawing/2014/main" id="{333557FF-F476-6721-8AA9-FD18F7036777}"/>
              </a:ext>
            </a:extLst>
          </p:cNvPr>
          <p:cNvSpPr/>
          <p:nvPr/>
        </p:nvSpPr>
        <p:spPr>
          <a:xfrm>
            <a:off x="4343400" y="1417320"/>
            <a:ext cx="3474720" cy="210312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16" name="Rectangle 21515">
            <a:extLst>
              <a:ext uri="{FF2B5EF4-FFF2-40B4-BE49-F238E27FC236}">
                <a16:creationId xmlns:a16="http://schemas.microsoft.com/office/drawing/2014/main" id="{05067990-90BD-FE0B-9AD5-C38C1357E79A}"/>
              </a:ext>
            </a:extLst>
          </p:cNvPr>
          <p:cNvSpPr/>
          <p:nvPr/>
        </p:nvSpPr>
        <p:spPr>
          <a:xfrm>
            <a:off x="4343400" y="1417320"/>
            <a:ext cx="3474720"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18" name="TextBox 21517">
            <a:extLst>
              <a:ext uri="{FF2B5EF4-FFF2-40B4-BE49-F238E27FC236}">
                <a16:creationId xmlns:a16="http://schemas.microsoft.com/office/drawing/2014/main" id="{4DDCD6BE-7171-43E1-CC3C-081C8AF0A7AC}"/>
              </a:ext>
            </a:extLst>
          </p:cNvPr>
          <p:cNvSpPr txBox="1"/>
          <p:nvPr/>
        </p:nvSpPr>
        <p:spPr>
          <a:xfrm>
            <a:off x="4526280" y="1581912"/>
            <a:ext cx="3108960" cy="411480"/>
          </a:xfrm>
          <a:prstGeom prst="rect">
            <a:avLst/>
          </a:prstGeom>
          <a:noFill/>
        </p:spPr>
        <p:txBody>
          <a:bodyPr wrap="none">
            <a:spAutoFit/>
          </a:bodyPr>
          <a:lstStyle/>
          <a:p>
            <a:pPr>
              <a:defRPr sz="1600" b="1">
                <a:solidFill>
                  <a:srgbClr val="121F35"/>
                </a:solidFill>
              </a:defRPr>
            </a:pPr>
            <a:r>
              <a:t>Dataset Feasibility</a:t>
            </a:r>
          </a:p>
        </p:txBody>
      </p:sp>
      <p:sp>
        <p:nvSpPr>
          <p:cNvPr id="21520" name="TextBox 21519">
            <a:extLst>
              <a:ext uri="{FF2B5EF4-FFF2-40B4-BE49-F238E27FC236}">
                <a16:creationId xmlns:a16="http://schemas.microsoft.com/office/drawing/2014/main" id="{0567D70B-3124-F6F5-4678-CC5CB883634B}"/>
              </a:ext>
            </a:extLst>
          </p:cNvPr>
          <p:cNvSpPr txBox="1"/>
          <p:nvPr/>
        </p:nvSpPr>
        <p:spPr>
          <a:xfrm>
            <a:off x="4526280" y="2057400"/>
            <a:ext cx="3108960" cy="1325879"/>
          </a:xfrm>
          <a:prstGeom prst="rect">
            <a:avLst/>
          </a:prstGeom>
          <a:noFill/>
        </p:spPr>
        <p:txBody>
          <a:bodyPr wrap="square">
            <a:spAutoFit/>
          </a:bodyPr>
          <a:lstStyle/>
          <a:p>
            <a:pPr>
              <a:defRPr sz="1250">
                <a:solidFill>
                  <a:srgbClr val="1E293B"/>
                </a:solidFill>
              </a:defRPr>
            </a:pPr>
            <a:r>
              <a:t>Public datasets such as supermarket sales and other business datasets support analysis and comparison.</a:t>
            </a:r>
          </a:p>
        </p:txBody>
      </p:sp>
      <p:sp>
        <p:nvSpPr>
          <p:cNvPr id="21522" name="Rounded Rectangle 11">
            <a:extLst>
              <a:ext uri="{FF2B5EF4-FFF2-40B4-BE49-F238E27FC236}">
                <a16:creationId xmlns:a16="http://schemas.microsoft.com/office/drawing/2014/main" id="{6FC81FC3-D892-995B-74A1-E0E9DC782B6A}"/>
              </a:ext>
            </a:extLst>
          </p:cNvPr>
          <p:cNvSpPr/>
          <p:nvPr/>
        </p:nvSpPr>
        <p:spPr>
          <a:xfrm>
            <a:off x="8046720" y="1417320"/>
            <a:ext cx="3474720" cy="210312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24" name="Rectangle 21523">
            <a:extLst>
              <a:ext uri="{FF2B5EF4-FFF2-40B4-BE49-F238E27FC236}">
                <a16:creationId xmlns:a16="http://schemas.microsoft.com/office/drawing/2014/main" id="{ED713B80-1CBD-1EA4-BD5E-A8192C10FD16}"/>
              </a:ext>
            </a:extLst>
          </p:cNvPr>
          <p:cNvSpPr/>
          <p:nvPr/>
        </p:nvSpPr>
        <p:spPr>
          <a:xfrm>
            <a:off x="8046720" y="1417320"/>
            <a:ext cx="347472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26" name="TextBox 21525">
            <a:extLst>
              <a:ext uri="{FF2B5EF4-FFF2-40B4-BE49-F238E27FC236}">
                <a16:creationId xmlns:a16="http://schemas.microsoft.com/office/drawing/2014/main" id="{C8B7FF6D-8AD9-2CAB-3507-383F6F47277D}"/>
              </a:ext>
            </a:extLst>
          </p:cNvPr>
          <p:cNvSpPr txBox="1"/>
          <p:nvPr/>
        </p:nvSpPr>
        <p:spPr>
          <a:xfrm>
            <a:off x="8229600" y="1581912"/>
            <a:ext cx="3108960" cy="411480"/>
          </a:xfrm>
          <a:prstGeom prst="rect">
            <a:avLst/>
          </a:prstGeom>
          <a:noFill/>
        </p:spPr>
        <p:txBody>
          <a:bodyPr wrap="none">
            <a:spAutoFit/>
          </a:bodyPr>
          <a:lstStyle/>
          <a:p>
            <a:pPr>
              <a:defRPr sz="1600" b="1">
                <a:solidFill>
                  <a:srgbClr val="121F35"/>
                </a:solidFill>
              </a:defRPr>
            </a:pPr>
            <a:r>
              <a:t>Computational Feasibility</a:t>
            </a:r>
          </a:p>
        </p:txBody>
      </p:sp>
      <p:sp>
        <p:nvSpPr>
          <p:cNvPr id="21528" name="TextBox 21527">
            <a:extLst>
              <a:ext uri="{FF2B5EF4-FFF2-40B4-BE49-F238E27FC236}">
                <a16:creationId xmlns:a16="http://schemas.microsoft.com/office/drawing/2014/main" id="{E01922A4-8FDE-2FCA-F642-E3208FD9772A}"/>
              </a:ext>
            </a:extLst>
          </p:cNvPr>
          <p:cNvSpPr txBox="1"/>
          <p:nvPr/>
        </p:nvSpPr>
        <p:spPr>
          <a:xfrm>
            <a:off x="8229600" y="2057400"/>
            <a:ext cx="3108960" cy="1325879"/>
          </a:xfrm>
          <a:prstGeom prst="rect">
            <a:avLst/>
          </a:prstGeom>
          <a:noFill/>
        </p:spPr>
        <p:txBody>
          <a:bodyPr wrap="square">
            <a:spAutoFit/>
          </a:bodyPr>
          <a:lstStyle/>
          <a:p>
            <a:pPr>
              <a:defRPr sz="1250">
                <a:solidFill>
                  <a:srgbClr val="1E293B"/>
                </a:solidFill>
              </a:defRPr>
            </a:pPr>
            <a:r>
              <a:t>Can be developed using standard student-level computing resources.</a:t>
            </a:r>
          </a:p>
        </p:txBody>
      </p:sp>
      <p:sp>
        <p:nvSpPr>
          <p:cNvPr id="21530" name="Rounded Rectangle 15">
            <a:extLst>
              <a:ext uri="{FF2B5EF4-FFF2-40B4-BE49-F238E27FC236}">
                <a16:creationId xmlns:a16="http://schemas.microsoft.com/office/drawing/2014/main" id="{99ED8D5A-2C23-FD15-EC9F-B783EDB95166}"/>
              </a:ext>
            </a:extLst>
          </p:cNvPr>
          <p:cNvSpPr/>
          <p:nvPr/>
        </p:nvSpPr>
        <p:spPr>
          <a:xfrm>
            <a:off x="2514600" y="3840480"/>
            <a:ext cx="7132320" cy="155448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32" name="Rectangle 21531">
            <a:extLst>
              <a:ext uri="{FF2B5EF4-FFF2-40B4-BE49-F238E27FC236}">
                <a16:creationId xmlns:a16="http://schemas.microsoft.com/office/drawing/2014/main" id="{5E2DA935-2F5A-031E-CC87-A80E8551E6A2}"/>
              </a:ext>
            </a:extLst>
          </p:cNvPr>
          <p:cNvSpPr/>
          <p:nvPr/>
        </p:nvSpPr>
        <p:spPr>
          <a:xfrm>
            <a:off x="2514600" y="3840480"/>
            <a:ext cx="7132320" cy="73152"/>
          </a:xfrm>
          <a:prstGeom prst="rect">
            <a:avLst/>
          </a:prstGeom>
          <a:solidFill>
            <a:srgbClr val="26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34" name="TextBox 21533">
            <a:extLst>
              <a:ext uri="{FF2B5EF4-FFF2-40B4-BE49-F238E27FC236}">
                <a16:creationId xmlns:a16="http://schemas.microsoft.com/office/drawing/2014/main" id="{99A5143D-BF3F-479C-E29F-329AEACF2B6F}"/>
              </a:ext>
            </a:extLst>
          </p:cNvPr>
          <p:cNvSpPr txBox="1"/>
          <p:nvPr/>
        </p:nvSpPr>
        <p:spPr>
          <a:xfrm>
            <a:off x="2697480" y="4005072"/>
            <a:ext cx="6766559" cy="411480"/>
          </a:xfrm>
          <a:prstGeom prst="rect">
            <a:avLst/>
          </a:prstGeom>
          <a:noFill/>
        </p:spPr>
        <p:txBody>
          <a:bodyPr wrap="none">
            <a:spAutoFit/>
          </a:bodyPr>
          <a:lstStyle/>
          <a:p>
            <a:pPr>
              <a:defRPr sz="1600" b="1">
                <a:solidFill>
                  <a:srgbClr val="121F35"/>
                </a:solidFill>
              </a:defRPr>
            </a:pPr>
            <a:r>
              <a:t>Time Feasibility</a:t>
            </a:r>
          </a:p>
        </p:txBody>
      </p:sp>
      <p:sp>
        <p:nvSpPr>
          <p:cNvPr id="21536" name="TextBox 21535">
            <a:extLst>
              <a:ext uri="{FF2B5EF4-FFF2-40B4-BE49-F238E27FC236}">
                <a16:creationId xmlns:a16="http://schemas.microsoft.com/office/drawing/2014/main" id="{6B6D5C5E-088A-FD5E-7653-CB7A8619B660}"/>
              </a:ext>
            </a:extLst>
          </p:cNvPr>
          <p:cNvSpPr txBox="1"/>
          <p:nvPr/>
        </p:nvSpPr>
        <p:spPr>
          <a:xfrm>
            <a:off x="2697480" y="4480560"/>
            <a:ext cx="6766559" cy="777240"/>
          </a:xfrm>
          <a:prstGeom prst="rect">
            <a:avLst/>
          </a:prstGeom>
          <a:noFill/>
        </p:spPr>
        <p:txBody>
          <a:bodyPr wrap="square">
            <a:spAutoFit/>
          </a:bodyPr>
          <a:lstStyle/>
          <a:p>
            <a:pPr>
              <a:defRPr sz="1250">
                <a:solidFill>
                  <a:srgbClr val="1E293B"/>
                </a:solidFill>
              </a:defRPr>
            </a:pPr>
            <a:r>
              <a:t>Staged development: analysis → visualization → dashboard → testing → integration.</a:t>
            </a:r>
          </a:p>
        </p:txBody>
      </p:sp>
      <p:sp>
        <p:nvSpPr>
          <p:cNvPr id="21538" name="TextBox 21537">
            <a:extLst>
              <a:ext uri="{FF2B5EF4-FFF2-40B4-BE49-F238E27FC236}">
                <a16:creationId xmlns:a16="http://schemas.microsoft.com/office/drawing/2014/main" id="{98896D81-7826-E3DC-ADD5-2FC084BE4D15}"/>
              </a:ext>
            </a:extLst>
          </p:cNvPr>
          <p:cNvSpPr txBox="1"/>
          <p:nvPr/>
        </p:nvSpPr>
        <p:spPr>
          <a:xfrm>
            <a:off x="10881360" y="6446520"/>
            <a:ext cx="731520" cy="228600"/>
          </a:xfrm>
          <a:prstGeom prst="rect">
            <a:avLst/>
          </a:prstGeom>
          <a:noFill/>
        </p:spPr>
        <p:txBody>
          <a:bodyPr wrap="none">
            <a:spAutoFit/>
          </a:bodyPr>
          <a:lstStyle/>
          <a:p>
            <a:pPr algn="r">
              <a:defRPr sz="900">
                <a:solidFill>
                  <a:srgbClr val="64748B"/>
                </a:solidFill>
              </a:defRPr>
            </a:pPr>
            <a:r>
              <a:t>09</a:t>
            </a: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3782695" y="440055"/>
            <a:ext cx="4061460" cy="705485"/>
          </a:xfrm>
        </p:spPr>
        <p:txBody>
          <a:bodyPr>
            <a:normAutofit/>
          </a:bodyPr>
          <a:lstStyle/>
          <a:p>
            <a:pPr algn="ctr"/>
            <a:r>
              <a:rPr lang="en-US" b="1" dirty="0">
                <a:latin typeface="Times New Roman" panose="02020603050405020304" pitchFamily="18" charset="0"/>
                <a:cs typeface="Times New Roman" panose="02020603050405020304" pitchFamily="18" charset="0"/>
                <a:sym typeface="+mn-ea"/>
              </a:rPr>
              <a:t>Project plan</a:t>
            </a:r>
            <a:endParaRPr lang="en-US" b="1"/>
          </a:p>
        </p:txBody>
      </p:sp>
      <p:sp>
        <p:nvSpPr>
          <p:cNvPr id="3" name="Content Placeholder 2"/>
          <p:cNvSpPr>
            <a:spLocks noGrp="1"/>
          </p:cNvSpPr>
          <p:nvPr>
            <p:ph idx="1"/>
            <p:custDataLst>
              <p:tags r:id="rId3"/>
            </p:custDataLst>
          </p:nvPr>
        </p:nvSpPr>
        <p:spPr>
          <a:xfrm>
            <a:off x="611400" y="1216080"/>
            <a:ext cx="10969200" cy="4759200"/>
          </a:xfrm>
        </p:spPr>
        <p:txBody>
          <a:bodyPr>
            <a:noAutofit/>
          </a:bodyPr>
          <a:lstStyle/>
          <a:p>
            <a:r>
              <a:rPr lang="en-IN" sz="1600" b="1" dirty="0"/>
              <a:t>Phase 1</a:t>
            </a:r>
          </a:p>
          <a:p>
            <a:r>
              <a:rPr lang="en-IN" sz="1600" b="1" dirty="0"/>
              <a:t>Data Analysis &amp; ML Foundation</a:t>
            </a:r>
            <a:endParaRPr lang="en-IN" sz="1600" dirty="0"/>
          </a:p>
          <a:p>
            <a:r>
              <a:rPr lang="en-IN" sz="1600" dirty="0"/>
              <a:t>Literature survey • requirements • dataset selection • data preprocessing • EDA • feature engineering • KPI analysis • baseline regression models • HSRE hybrid model • comparative evaluation</a:t>
            </a:r>
          </a:p>
          <a:p>
            <a:r>
              <a:rPr lang="en-IN" sz="1600" b="1" dirty="0"/>
              <a:t>Phase 2</a:t>
            </a:r>
          </a:p>
          <a:p>
            <a:r>
              <a:rPr lang="en-IN" sz="1600" b="1" dirty="0"/>
              <a:t>Advanced Analytics &amp; Intelligent Storytelling</a:t>
            </a:r>
            <a:endParaRPr lang="en-IN" sz="1600" dirty="0"/>
          </a:p>
          <a:p>
            <a:r>
              <a:rPr lang="en-IN" sz="1600" dirty="0"/>
              <a:t>Model optimization • advanced feature engineering • explainable AI • sales forecasting • anomaly detection • what-if analysis • automated data storytelling • business insights</a:t>
            </a:r>
          </a:p>
          <a:p>
            <a:r>
              <a:rPr lang="en-IN" sz="1600" b="1" dirty="0"/>
              <a:t>Phase 3</a:t>
            </a:r>
          </a:p>
          <a:p>
            <a:r>
              <a:rPr lang="en-IN" sz="1600" b="1" dirty="0"/>
              <a:t>Intelligent Decision Support Platform</a:t>
            </a:r>
            <a:endParaRPr lang="en-IN" sz="1600" dirty="0"/>
          </a:p>
          <a:p>
            <a:r>
              <a:rPr lang="en-IN" sz="1600" dirty="0"/>
              <a:t>Frontend • Flask backend • database/API integration • real-time/updated data • interactive decision support • model monitoring • data drift detection • testing • validation • documentation</a:t>
            </a:r>
          </a:p>
          <a:p>
            <a:endParaRPr lang="en-IN" sz="1600" dirty="0"/>
          </a:p>
        </p:txBody>
      </p:sp>
      <p:pic>
        <p:nvPicPr>
          <p:cNvPr id="21506" name="Picture 2" descr="Koneru Lakshmaiah Education Foundation, Bachupally Campus Courses ..."/>
          <p:cNvPicPr>
            <a:picLocks noChangeAspect="1" noChangeArrowheads="1"/>
          </p:cNvPicPr>
          <p:nvPr/>
        </p:nvPicPr>
        <p:blipFill>
          <a:blip r:embed="rId5"/>
          <a:srcRect t="16961" b="27101"/>
          <a:stretch>
            <a:fillRect/>
          </a:stretch>
        </p:blipFill>
        <p:spPr bwMode="auto">
          <a:xfrm>
            <a:off x="0" y="0"/>
            <a:ext cx="2095500" cy="1145540"/>
          </a:xfrm>
          <a:prstGeom prst="rect">
            <a:avLst/>
          </a:prstGeom>
          <a:noFill/>
        </p:spPr>
      </p:pic>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4150360" y="189230"/>
            <a:ext cx="3451860" cy="956310"/>
          </a:xfrm>
        </p:spPr>
        <p:txBody>
          <a:bodyPr>
            <a:normAutofit/>
          </a:bodyPr>
          <a:lstStyle/>
          <a:p>
            <a:pPr algn="ctr"/>
            <a:r>
              <a:rPr lang="en-US" altLang="en-US" b="1">
                <a:latin typeface="Times New Roman" panose="02020603050405020304" pitchFamily="18" charset="0"/>
                <a:cs typeface="Times New Roman" panose="02020603050405020304" pitchFamily="18" charset="0"/>
                <a:sym typeface="+mn-ea"/>
              </a:rPr>
              <a:t>Methodology</a:t>
            </a:r>
            <a:endParaRPr lang="en-US" b="1"/>
          </a:p>
        </p:txBody>
      </p:sp>
      <p:sp>
        <p:nvSpPr>
          <p:cNvPr id="3" name="Content Placeholder 2"/>
          <p:cNvSpPr>
            <a:spLocks noGrp="1"/>
          </p:cNvSpPr>
          <p:nvPr>
            <p:ph idx="1"/>
            <p:custDataLst>
              <p:tags r:id="rId3"/>
            </p:custDataLst>
          </p:nvPr>
        </p:nvSpPr>
        <p:spPr>
          <a:xfrm>
            <a:off x="611575" y="1145595"/>
            <a:ext cx="10969200" cy="4759200"/>
          </a:xfrm>
        </p:spPr>
        <p:txBody>
          <a:bodyPr>
            <a:normAutofit fontScale="25000" lnSpcReduction="20000"/>
          </a:bodyPr>
          <a:lstStyle/>
          <a:p>
            <a:r>
              <a:rPr lang="en-IN" sz="6000" b="1" dirty="0"/>
              <a:t>1. Data Collection</a:t>
            </a:r>
          </a:p>
          <a:p>
            <a:pPr lvl="0"/>
            <a:r>
              <a:rPr lang="en-IN" sz="6000" dirty="0"/>
              <a:t>Collected </a:t>
            </a:r>
            <a:r>
              <a:rPr lang="en-IN" sz="6000" b="1" dirty="0"/>
              <a:t>Superstore, Global Superstore, Online Sales, and Supermarket Sales</a:t>
            </a:r>
            <a:r>
              <a:rPr lang="en-IN" sz="6000" dirty="0"/>
              <a:t> datasets from publicly available sources.</a:t>
            </a:r>
          </a:p>
          <a:p>
            <a:pPr lvl="0"/>
            <a:r>
              <a:rPr lang="en-IN" sz="6000" dirty="0"/>
              <a:t>Gathered data related to </a:t>
            </a:r>
            <a:r>
              <a:rPr lang="en-IN" sz="6000" b="1" dirty="0"/>
              <a:t>sales, profit, quantity, products, categories, regions, customers, and transactions</a:t>
            </a:r>
            <a:r>
              <a:rPr lang="en-IN" sz="6000" dirty="0"/>
              <a:t>.</a:t>
            </a:r>
          </a:p>
          <a:p>
            <a:pPr lvl="0"/>
            <a:r>
              <a:rPr lang="en-IN" sz="6000" dirty="0"/>
              <a:t>Stored the datasets in structured formats such as </a:t>
            </a:r>
            <a:r>
              <a:rPr lang="en-IN" sz="6000" b="1" dirty="0"/>
              <a:t>CSV</a:t>
            </a:r>
            <a:r>
              <a:rPr lang="en-IN" sz="6000" dirty="0"/>
              <a:t>.</a:t>
            </a:r>
          </a:p>
          <a:p>
            <a:pPr lvl="0"/>
            <a:r>
              <a:rPr lang="en-IN" sz="6000" dirty="0"/>
              <a:t>Used these datasets as the base input for further </a:t>
            </a:r>
            <a:r>
              <a:rPr lang="en-IN" sz="6000" b="1" dirty="0"/>
              <a:t>data analysis, visualization, storytelling, and machine-learning prediction</a:t>
            </a:r>
            <a:r>
              <a:rPr lang="en-IN" sz="6000" dirty="0"/>
              <a:t>.</a:t>
            </a:r>
          </a:p>
          <a:p>
            <a:r>
              <a:rPr lang="en-IN" sz="6000" b="1" dirty="0"/>
              <a:t>2. Data Preprocessing</a:t>
            </a:r>
          </a:p>
          <a:p>
            <a:pPr lvl="0"/>
            <a:r>
              <a:rPr lang="en-IN" sz="6000" dirty="0"/>
              <a:t>Checked the datasets for </a:t>
            </a:r>
            <a:r>
              <a:rPr lang="en-IN" sz="6000" b="1" dirty="0"/>
              <a:t>missing values, empty rows, duplicates, and inconsistent data</a:t>
            </a:r>
            <a:r>
              <a:rPr lang="en-IN" sz="6000" dirty="0"/>
              <a:t>.</a:t>
            </a:r>
          </a:p>
          <a:p>
            <a:pPr lvl="0"/>
            <a:r>
              <a:rPr lang="en-IN" sz="6000" dirty="0"/>
              <a:t>Removed duplicate and unnecessary records that did not contribute to the analysis.</a:t>
            </a:r>
          </a:p>
          <a:p>
            <a:pPr lvl="0"/>
            <a:r>
              <a:rPr lang="en-IN" sz="6000" dirty="0"/>
              <a:t>Standardized column names and converted attributes into appropriate </a:t>
            </a:r>
            <a:r>
              <a:rPr lang="en-IN" sz="6000" b="1" dirty="0"/>
              <a:t>numerical and date formats</a:t>
            </a:r>
            <a:r>
              <a:rPr lang="en-IN" sz="6000" dirty="0"/>
              <a:t>.</a:t>
            </a:r>
          </a:p>
          <a:p>
            <a:pPr lvl="0"/>
            <a:r>
              <a:rPr lang="en-IN" sz="6000" dirty="0"/>
              <a:t>Handled missing values and cleaned numerical fields such as </a:t>
            </a:r>
            <a:r>
              <a:rPr lang="en-IN" sz="6000" b="1" dirty="0"/>
              <a:t>Sales, Profit, Quantity, and Discount</a:t>
            </a:r>
            <a:r>
              <a:rPr lang="en-IN" sz="6000" dirty="0"/>
              <a:t>.</a:t>
            </a:r>
          </a:p>
          <a:p>
            <a:pPr lvl="0"/>
            <a:r>
              <a:rPr lang="en-IN" sz="6000" dirty="0"/>
              <a:t>Prepared clean, dataset-specific data for </a:t>
            </a:r>
            <a:r>
              <a:rPr lang="en-IN" sz="6000" b="1" dirty="0"/>
              <a:t>analytics and machine-learning models</a:t>
            </a:r>
            <a:r>
              <a:rPr lang="en-IN" sz="6000" dirty="0"/>
              <a:t>.</a:t>
            </a:r>
          </a:p>
        </p:txBody>
      </p:sp>
      <p:pic>
        <p:nvPicPr>
          <p:cNvPr id="21506" name="Picture 2" descr="Koneru Lakshmaiah Education Foundation, Bachupally Campus Courses ..."/>
          <p:cNvPicPr>
            <a:picLocks noChangeAspect="1" noChangeArrowheads="1"/>
          </p:cNvPicPr>
          <p:nvPr/>
        </p:nvPicPr>
        <p:blipFill>
          <a:blip r:embed="rId5"/>
          <a:srcRect t="16961" b="27101"/>
          <a:stretch>
            <a:fillRect/>
          </a:stretch>
        </p:blipFill>
        <p:spPr bwMode="auto">
          <a:xfrm>
            <a:off x="0" y="0"/>
            <a:ext cx="2095500" cy="1145540"/>
          </a:xfrm>
          <a:prstGeom prst="rect">
            <a:avLst/>
          </a:prstGeom>
          <a:noFill/>
        </p:spPr>
      </p:pic>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custDataLst>
              <p:tags r:id="rId2"/>
            </p:custDataLst>
          </p:nvPr>
        </p:nvSpPr>
        <p:spPr>
          <a:xfrm>
            <a:off x="608400" y="1145595"/>
            <a:ext cx="10969200" cy="4759200"/>
          </a:xfrm>
        </p:spPr>
        <p:txBody>
          <a:bodyPr>
            <a:noAutofit/>
          </a:bodyPr>
          <a:lstStyle/>
          <a:p>
            <a:r>
              <a:rPr lang="en-IN" sz="1600" b="1" dirty="0"/>
              <a:t>3. Feature Engineering</a:t>
            </a:r>
          </a:p>
          <a:p>
            <a:pPr lvl="0"/>
            <a:r>
              <a:rPr lang="en-IN" sz="1600" dirty="0"/>
              <a:t>Identified features relevant to </a:t>
            </a:r>
            <a:r>
              <a:rPr lang="en-IN" sz="1600" b="1" dirty="0"/>
              <a:t>sales analysis and prediction</a:t>
            </a:r>
            <a:r>
              <a:rPr lang="en-IN" sz="1600" dirty="0"/>
              <a:t>.</a:t>
            </a:r>
          </a:p>
          <a:p>
            <a:pPr lvl="0"/>
            <a:r>
              <a:rPr lang="en-IN" sz="1600" dirty="0"/>
              <a:t>Created derived features such as </a:t>
            </a:r>
            <a:r>
              <a:rPr lang="en-IN" sz="1600" b="1" dirty="0"/>
              <a:t>Year, Month, Quarter, and Profit Margin</a:t>
            </a:r>
            <a:r>
              <a:rPr lang="en-IN" sz="1600" dirty="0"/>
              <a:t> where the required source fields were available.</a:t>
            </a:r>
          </a:p>
          <a:p>
            <a:pPr lvl="0"/>
            <a:r>
              <a:rPr lang="en-IN" sz="1600" dirty="0"/>
              <a:t>Standardized different column names across datasets for common dashboard analysis.</a:t>
            </a:r>
          </a:p>
          <a:p>
            <a:pPr lvl="0"/>
            <a:r>
              <a:rPr lang="en-IN" sz="1600" dirty="0"/>
              <a:t>Selected relevant features as input variables for the </a:t>
            </a:r>
            <a:r>
              <a:rPr lang="en-IN" sz="1600" b="1" dirty="0"/>
              <a:t>regression models and proposed HSRE model</a:t>
            </a:r>
            <a:r>
              <a:rPr lang="en-IN" sz="1600" dirty="0"/>
              <a:t>.</a:t>
            </a:r>
          </a:p>
          <a:p>
            <a:r>
              <a:rPr lang="en-IN" sz="1600" b="1" dirty="0"/>
              <a:t>4. Exploratory Data Analysis</a:t>
            </a:r>
          </a:p>
          <a:p>
            <a:pPr lvl="0"/>
            <a:r>
              <a:rPr lang="en-IN" sz="1600" dirty="0"/>
              <a:t>Performed </a:t>
            </a:r>
            <a:r>
              <a:rPr lang="en-IN" sz="1600" b="1" dirty="0"/>
              <a:t>EDA</a:t>
            </a:r>
            <a:r>
              <a:rPr lang="en-IN" sz="1600" dirty="0"/>
              <a:t> to understand sales, profit, quantity, category, region, and customer patterns.</a:t>
            </a:r>
          </a:p>
          <a:p>
            <a:pPr lvl="0"/>
            <a:r>
              <a:rPr lang="en-IN" sz="1600" dirty="0" err="1"/>
              <a:t>Analyzed</a:t>
            </a:r>
            <a:r>
              <a:rPr lang="en-IN" sz="1600" dirty="0"/>
              <a:t> relationships between </a:t>
            </a:r>
            <a:r>
              <a:rPr lang="en-IN" sz="1600" b="1" dirty="0"/>
              <a:t>Discount and Profit</a:t>
            </a:r>
            <a:r>
              <a:rPr lang="en-IN" sz="1600" dirty="0"/>
              <a:t> and other important business variables.</a:t>
            </a:r>
          </a:p>
          <a:p>
            <a:pPr lvl="0"/>
            <a:r>
              <a:rPr lang="en-IN" sz="1600" dirty="0"/>
              <a:t>Identified trends and patterns that support further visualization and decision-making.</a:t>
            </a:r>
          </a:p>
        </p:txBody>
      </p:sp>
      <p:pic>
        <p:nvPicPr>
          <p:cNvPr id="21506" name="Picture 2" descr="Koneru Lakshmaiah Education Foundation, Bachupally Campus Courses ..."/>
          <p:cNvPicPr>
            <a:picLocks noChangeAspect="1" noChangeArrowheads="1"/>
          </p:cNvPicPr>
          <p:nvPr/>
        </p:nvPicPr>
        <p:blipFill>
          <a:blip r:embed="rId4"/>
          <a:srcRect t="16961" b="27101"/>
          <a:stretch>
            <a:fillRect/>
          </a:stretch>
        </p:blipFill>
        <p:spPr bwMode="auto">
          <a:xfrm>
            <a:off x="0" y="0"/>
            <a:ext cx="2095500" cy="1145540"/>
          </a:xfrm>
          <a:prstGeom prst="rect">
            <a:avLst/>
          </a:prstGeom>
          <a:noFill/>
        </p:spPr>
      </p:pic>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custDataLst>
              <p:tags r:id="rId2"/>
            </p:custDataLst>
          </p:nvPr>
        </p:nvSpPr>
        <p:spPr>
          <a:xfrm>
            <a:off x="608400" y="1145595"/>
            <a:ext cx="10969200" cy="4759200"/>
          </a:xfrm>
        </p:spPr>
        <p:txBody>
          <a:bodyPr>
            <a:noAutofit/>
          </a:bodyPr>
          <a:lstStyle/>
          <a:p>
            <a:r>
              <a:rPr lang="en-IN" sz="1600" b="1" dirty="0"/>
              <a:t>5. Machine Learning Analysis</a:t>
            </a:r>
          </a:p>
          <a:p>
            <a:pPr lvl="0"/>
            <a:r>
              <a:rPr lang="en-IN" sz="1600" dirty="0"/>
              <a:t>Implemented </a:t>
            </a:r>
            <a:r>
              <a:rPr lang="en-IN" sz="1600" b="1" dirty="0"/>
              <a:t>Linear Regression, Decision Tree, Random Forest, and Gradient Boosting</a:t>
            </a:r>
            <a:r>
              <a:rPr lang="en-IN" sz="1600" dirty="0"/>
              <a:t> as baseline models.</a:t>
            </a:r>
          </a:p>
          <a:p>
            <a:pPr lvl="0"/>
            <a:r>
              <a:rPr lang="en-IN" sz="1600" dirty="0"/>
              <a:t>Developed the proposed </a:t>
            </a:r>
            <a:r>
              <a:rPr lang="en-IN" sz="1600" b="1" dirty="0"/>
              <a:t>Hybrid Stacked Regression Ensemble (HSRE)</a:t>
            </a:r>
            <a:r>
              <a:rPr lang="en-IN" sz="1600" dirty="0"/>
              <a:t> using a stacking architecture.</a:t>
            </a:r>
          </a:p>
          <a:p>
            <a:pPr lvl="0"/>
            <a:r>
              <a:rPr lang="en-IN" sz="1600" dirty="0"/>
              <a:t>Compared the models using </a:t>
            </a:r>
            <a:r>
              <a:rPr lang="en-IN" sz="1600" b="1" dirty="0"/>
              <a:t>R², MAE, MSE, RMSE, and other suitable regression metrics</a:t>
            </a:r>
            <a:r>
              <a:rPr lang="en-IN" sz="1600" dirty="0"/>
              <a:t>.</a:t>
            </a:r>
          </a:p>
          <a:p>
            <a:r>
              <a:rPr lang="en-IN" sz="1600" b="1" dirty="0"/>
              <a:t>6. Visualization &amp; Dashboard</a:t>
            </a:r>
          </a:p>
          <a:p>
            <a:pPr lvl="0"/>
            <a:r>
              <a:rPr lang="en-IN" sz="1600" dirty="0"/>
              <a:t>Created interactive visualizations using </a:t>
            </a:r>
            <a:r>
              <a:rPr lang="en-IN" sz="1600" b="1" dirty="0" err="1"/>
              <a:t>Plotly</a:t>
            </a:r>
            <a:r>
              <a:rPr lang="en-IN" sz="1600" b="1" dirty="0"/>
              <a:t>, HTML, CSS, and JavaScript</a:t>
            </a:r>
            <a:r>
              <a:rPr lang="en-IN" sz="1600" dirty="0"/>
              <a:t>.</a:t>
            </a:r>
          </a:p>
          <a:p>
            <a:pPr lvl="0"/>
            <a:r>
              <a:rPr lang="en-IN" sz="1600" dirty="0"/>
              <a:t>Developed an interactive dashboard using </a:t>
            </a:r>
            <a:r>
              <a:rPr lang="en-IN" sz="1600" b="1" dirty="0"/>
              <a:t>Flask</a:t>
            </a:r>
            <a:r>
              <a:rPr lang="en-IN" sz="1600" dirty="0"/>
              <a:t>.</a:t>
            </a:r>
          </a:p>
          <a:p>
            <a:pPr lvl="0"/>
            <a:r>
              <a:rPr lang="en-IN" sz="1600" dirty="0"/>
              <a:t>Implemented dataset-aware filters for </a:t>
            </a:r>
            <a:r>
              <a:rPr lang="en-IN" sz="1600" b="1" dirty="0"/>
              <a:t>Year, Category, Region, and Segment</a:t>
            </a:r>
            <a:r>
              <a:rPr lang="en-IN" sz="1600" dirty="0"/>
              <a:t>.</a:t>
            </a:r>
          </a:p>
          <a:p>
            <a:pPr lvl="0"/>
            <a:r>
              <a:rPr lang="en-IN" sz="1600" dirty="0"/>
              <a:t>Presented KPIs such as </a:t>
            </a:r>
            <a:r>
              <a:rPr lang="en-IN" sz="1600" b="1" dirty="0"/>
              <a:t>Total Sales, Total Profit, Total Orders, Total Quantity, Total Customers, and Profit Margin</a:t>
            </a:r>
            <a:r>
              <a:rPr lang="en-IN" sz="1600" dirty="0"/>
              <a:t>.</a:t>
            </a:r>
          </a:p>
        </p:txBody>
      </p:sp>
      <p:pic>
        <p:nvPicPr>
          <p:cNvPr id="21506" name="Picture 2" descr="Koneru Lakshmaiah Education Foundation, Bachupally Campus Courses ..."/>
          <p:cNvPicPr>
            <a:picLocks noChangeAspect="1" noChangeArrowheads="1"/>
          </p:cNvPicPr>
          <p:nvPr/>
        </p:nvPicPr>
        <p:blipFill>
          <a:blip r:embed="rId4"/>
          <a:srcRect t="16961" b="27101"/>
          <a:stretch>
            <a:fillRect/>
          </a:stretch>
        </p:blipFill>
        <p:spPr bwMode="auto">
          <a:xfrm>
            <a:off x="0" y="0"/>
            <a:ext cx="2095500" cy="1145540"/>
          </a:xfrm>
          <a:prstGeom prst="rect">
            <a:avLst/>
          </a:prstGeom>
          <a:noFill/>
        </p:spPr>
      </p:pic>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CFAB33-4B0B-F58E-28DC-D4002FDE3441}"/>
              </a:ext>
            </a:extLst>
          </p:cNvPr>
          <p:cNvSpPr>
            <a:spLocks noGrp="1"/>
          </p:cNvSpPr>
          <p:nvPr>
            <p:ph idx="1"/>
          </p:nvPr>
        </p:nvSpPr>
        <p:spPr/>
        <p:txBody>
          <a:bodyPr/>
          <a:lstStyle/>
          <a:p>
            <a:r>
              <a:rPr lang="en-IN" b="1" dirty="0"/>
              <a:t>7. Data Storytelling &amp; Decision Support</a:t>
            </a:r>
          </a:p>
          <a:p>
            <a:pPr lvl="0"/>
            <a:r>
              <a:rPr lang="en-IN" dirty="0"/>
              <a:t>Converted analytical results into a structured </a:t>
            </a:r>
            <a:r>
              <a:rPr lang="en-IN" b="1" dirty="0"/>
              <a:t>Finding → Meaning → Decision → Recommendation</a:t>
            </a:r>
            <a:r>
              <a:rPr lang="en-IN" dirty="0"/>
              <a:t> format.</a:t>
            </a:r>
          </a:p>
          <a:p>
            <a:pPr lvl="0"/>
            <a:r>
              <a:rPr lang="en-IN" dirty="0"/>
              <a:t>Generated business insights from the visualizations and KPIs.</a:t>
            </a:r>
          </a:p>
          <a:p>
            <a:pPr lvl="0"/>
            <a:r>
              <a:rPr lang="en-IN" dirty="0"/>
              <a:t>Provided </a:t>
            </a:r>
            <a:r>
              <a:rPr lang="en-IN" b="1" dirty="0"/>
              <a:t>decision-support recommendations</a:t>
            </a:r>
            <a:r>
              <a:rPr lang="en-IN" dirty="0"/>
              <a:t> based on sales and profit patterns.</a:t>
            </a:r>
          </a:p>
          <a:p>
            <a:pPr lvl="0"/>
            <a:r>
              <a:rPr lang="en-IN" dirty="0"/>
              <a:t>Integrated predictive model results with the overall </a:t>
            </a:r>
            <a:r>
              <a:rPr lang="en-IN" b="1" dirty="0"/>
              <a:t>interactive decision-analytics platform</a:t>
            </a:r>
            <a:r>
              <a:rPr lang="en-IN" dirty="0"/>
              <a:t>.</a:t>
            </a:r>
          </a:p>
          <a:p>
            <a:endParaRPr lang="en-IN" dirty="0"/>
          </a:p>
        </p:txBody>
      </p:sp>
    </p:spTree>
    <p:extLst>
      <p:ext uri="{BB962C8B-B14F-4D97-AF65-F5344CB8AC3E}">
        <p14:creationId xmlns:p14="http://schemas.microsoft.com/office/powerpoint/2010/main" val="29120847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4141470" y="440055"/>
            <a:ext cx="3909060" cy="705485"/>
          </a:xfrm>
        </p:spPr>
        <p:txBody>
          <a:bodyPr>
            <a:normAutofit fontScale="90000"/>
          </a:bodyPr>
          <a:lstStyle/>
          <a:p>
            <a:pPr algn="ctr"/>
            <a:r>
              <a:rPr lang="en-US" altLang="en-US" b="1" dirty="0">
                <a:latin typeface="Times New Roman" panose="02020603050405020304" pitchFamily="18" charset="0"/>
                <a:cs typeface="Times New Roman" panose="02020603050405020304" pitchFamily="18" charset="0"/>
                <a:sym typeface="+mn-ea"/>
              </a:rPr>
              <a:t>System Design and Methodology</a:t>
            </a:r>
            <a:endParaRPr lang="en-US" b="1" dirty="0"/>
          </a:p>
        </p:txBody>
      </p:sp>
      <p:pic>
        <p:nvPicPr>
          <p:cNvPr id="21506" name="Picture 2" descr="Koneru Lakshmaiah Education Foundation, Bachupally Campus Courses ..."/>
          <p:cNvPicPr>
            <a:picLocks noChangeAspect="1" noChangeArrowheads="1"/>
          </p:cNvPicPr>
          <p:nvPr/>
        </p:nvPicPr>
        <p:blipFill>
          <a:blip r:embed="rId4"/>
          <a:srcRect t="16961" b="27101"/>
          <a:stretch>
            <a:fillRect/>
          </a:stretch>
        </p:blipFill>
        <p:spPr bwMode="auto">
          <a:xfrm>
            <a:off x="0" y="0"/>
            <a:ext cx="2095500" cy="1145540"/>
          </a:xfrm>
          <a:prstGeom prst="rect">
            <a:avLst/>
          </a:prstGeom>
          <a:noFill/>
        </p:spPr>
      </p:pic>
      <p:pic>
        <p:nvPicPr>
          <p:cNvPr id="5" name="Content Placeholder 10">
            <a:extLst>
              <a:ext uri="{FF2B5EF4-FFF2-40B4-BE49-F238E27FC236}">
                <a16:creationId xmlns:a16="http://schemas.microsoft.com/office/drawing/2014/main" id="{CC9E4246-F2E7-8465-1342-4C3AA60E494B}"/>
              </a:ext>
            </a:extLst>
          </p:cNvPr>
          <p:cNvPicPr>
            <a:picLocks noChangeAspect="1"/>
          </p:cNvPicPr>
          <p:nvPr/>
        </p:nvPicPr>
        <p:blipFill>
          <a:blip r:embed="rId5"/>
          <a:stretch>
            <a:fillRect/>
          </a:stretch>
        </p:blipFill>
        <p:spPr>
          <a:xfrm>
            <a:off x="2095500" y="1272787"/>
            <a:ext cx="7465219" cy="4976813"/>
          </a:xfrm>
          <a:prstGeom prst="rect">
            <a:avLst/>
          </a:prstGeom>
        </p:spPr>
      </p:pic>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2663825" y="285750"/>
            <a:ext cx="7731760" cy="705485"/>
          </a:xfrm>
        </p:spPr>
        <p:txBody>
          <a:bodyPr>
            <a:normAutofit/>
          </a:bodyPr>
          <a:lstStyle/>
          <a:p>
            <a:pPr algn="ctr"/>
            <a:r>
              <a:rPr lang="en-US" b="1" dirty="0">
                <a:latin typeface="Times New Roman" panose="02020603050405020304" pitchFamily="18" charset="0"/>
                <a:cs typeface="Times New Roman" panose="02020603050405020304" pitchFamily="18" charset="0"/>
                <a:sym typeface="+mn-ea"/>
              </a:rPr>
              <a:t>Modern Tools &amp; Technologies</a:t>
            </a:r>
            <a:endParaRPr lang="en-US" b="1"/>
          </a:p>
        </p:txBody>
      </p:sp>
      <p:graphicFrame>
        <p:nvGraphicFramePr>
          <p:cNvPr id="7" name="Content Placeholder 6"/>
          <p:cNvGraphicFramePr>
            <a:graphicFrameLocks noGrp="1"/>
          </p:cNvGraphicFramePr>
          <p:nvPr>
            <p:ph idx="1"/>
            <p:custDataLst>
              <p:tags r:id="rId3"/>
            </p:custDataLst>
            <p:extLst>
              <p:ext uri="{D42A27DB-BD31-4B8C-83A1-F6EECF244321}">
                <p14:modId xmlns:p14="http://schemas.microsoft.com/office/powerpoint/2010/main" val="3818711293"/>
              </p:ext>
            </p:extLst>
          </p:nvPr>
        </p:nvGraphicFramePr>
        <p:xfrm>
          <a:off x="483305" y="1145595"/>
          <a:ext cx="10968990" cy="5383530"/>
        </p:xfrm>
        <a:graphic>
          <a:graphicData uri="http://schemas.openxmlformats.org/drawingml/2006/table">
            <a:tbl>
              <a:tblPr firstRow="1" bandRow="1">
                <a:tableStyleId>{5C22544A-7EE6-4342-B048-85BDC9FD1C3A}</a:tableStyleId>
              </a:tblPr>
              <a:tblGrid>
                <a:gridCol w="3796030">
                  <a:extLst>
                    <a:ext uri="{9D8B030D-6E8A-4147-A177-3AD203B41FA5}">
                      <a16:colId xmlns:a16="http://schemas.microsoft.com/office/drawing/2014/main" val="20000"/>
                    </a:ext>
                  </a:extLst>
                </a:gridCol>
                <a:gridCol w="3334385">
                  <a:extLst>
                    <a:ext uri="{9D8B030D-6E8A-4147-A177-3AD203B41FA5}">
                      <a16:colId xmlns:a16="http://schemas.microsoft.com/office/drawing/2014/main" val="20001"/>
                    </a:ext>
                  </a:extLst>
                </a:gridCol>
                <a:gridCol w="3838575">
                  <a:extLst>
                    <a:ext uri="{9D8B030D-6E8A-4147-A177-3AD203B41FA5}">
                      <a16:colId xmlns:a16="http://schemas.microsoft.com/office/drawing/2014/main" val="20002"/>
                    </a:ext>
                  </a:extLst>
                </a:gridCol>
              </a:tblGrid>
              <a:tr h="519430">
                <a:tc>
                  <a:txBody>
                    <a:bodyPr/>
                    <a:lstStyle/>
                    <a:p>
                      <a:r>
                        <a:rPr lang="en-US" sz="18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Category</a:t>
                      </a:r>
                    </a:p>
                  </a:txBody>
                  <a:tcPr marL="0" marR="0" marT="0" marB="0" anchor="ctr"/>
                </a:tc>
                <a:tc>
                  <a:txBody>
                    <a:bodyPr/>
                    <a:lstStyle/>
                    <a:p>
                      <a:pPr>
                        <a:buNone/>
                      </a:pPr>
                      <a:r>
                        <a:rPr lang="en-US" altLang="en-US"/>
                        <a:t>Tool / Technology</a:t>
                      </a:r>
                    </a:p>
                  </a:txBody>
                  <a:tcPr/>
                </a:tc>
                <a:tc>
                  <a:txBody>
                    <a:bodyPr/>
                    <a:lstStyle/>
                    <a:p>
                      <a:pPr>
                        <a:buNone/>
                      </a:pPr>
                      <a:r>
                        <a:rPr lang="en-US" altLang="en-US"/>
                        <a:t>Purpose in the Project</a:t>
                      </a:r>
                    </a:p>
                  </a:txBody>
                  <a:tcPr/>
                </a:tc>
                <a:extLst>
                  <a:ext uri="{0D108BD9-81ED-4DB2-BD59-A6C34878D82A}">
                    <a16:rowId xmlns:a16="http://schemas.microsoft.com/office/drawing/2014/main" val="10000"/>
                  </a:ext>
                </a:extLst>
              </a:tr>
              <a:tr h="623570">
                <a:tc>
                  <a:txBody>
                    <a:bodyPr/>
                    <a:lstStyle/>
                    <a:p>
                      <a:pPr>
                        <a:buNone/>
                      </a:pPr>
                      <a:r>
                        <a:rPr lang="en-US" altLang="en-US" sz="1200">
                          <a:latin typeface="Times New Roman" panose="02020603050405020304" pitchFamily="18" charset="0"/>
                          <a:cs typeface="Times New Roman" panose="02020603050405020304" pitchFamily="18" charset="0"/>
                        </a:rPr>
                        <a:t>Programming Language</a:t>
                      </a:r>
                    </a:p>
                  </a:txBody>
                  <a:tcPr/>
                </a:tc>
                <a:tc>
                  <a:txBody>
                    <a:bodyPr/>
                    <a:lstStyle/>
                    <a:p>
                      <a:pPr>
                        <a:buNone/>
                      </a:pPr>
                      <a:r>
                        <a:rPr lang="en-US" altLang="en-US" sz="1200" dirty="0"/>
                        <a:t>Python</a:t>
                      </a:r>
                    </a:p>
                  </a:txBody>
                  <a:tcPr/>
                </a:tc>
                <a:tc>
                  <a:txBody>
                    <a:bodyPr/>
                    <a:lstStyle/>
                    <a:p>
                      <a:pPr>
                        <a:buNone/>
                      </a:pPr>
                      <a:r>
                        <a:rPr lang="en-US" altLang="en-US" sz="1200"/>
                        <a:t>Core language for data analysis, preprocessing, ML, and project implementation</a:t>
                      </a:r>
                    </a:p>
                  </a:txBody>
                  <a:tcPr/>
                </a:tc>
                <a:extLst>
                  <a:ext uri="{0D108BD9-81ED-4DB2-BD59-A6C34878D82A}">
                    <a16:rowId xmlns:a16="http://schemas.microsoft.com/office/drawing/2014/main" val="10001"/>
                  </a:ext>
                </a:extLst>
              </a:tr>
              <a:tr h="623570">
                <a:tc>
                  <a:txBody>
                    <a:bodyPr/>
                    <a:lstStyle/>
                    <a:p>
                      <a:pPr>
                        <a:buNone/>
                      </a:pPr>
                      <a:r>
                        <a:rPr lang="en-US" altLang="en-US" sz="1200"/>
                        <a:t>Development Environment</a:t>
                      </a:r>
                    </a:p>
                  </a:txBody>
                  <a:tcPr/>
                </a:tc>
                <a:tc>
                  <a:txBody>
                    <a:bodyPr/>
                    <a:lstStyle/>
                    <a:p>
                      <a:pPr>
                        <a:buNone/>
                      </a:pPr>
                      <a:r>
                        <a:rPr lang="en-US" altLang="en-US" sz="1200"/>
                        <a:t>Jupyter Notebook</a:t>
                      </a:r>
                    </a:p>
                  </a:txBody>
                  <a:tcPr/>
                </a:tc>
                <a:tc>
                  <a:txBody>
                    <a:bodyPr/>
                    <a:lstStyle/>
                    <a:p>
                      <a:pPr>
                        <a:buNone/>
                      </a:pPr>
                      <a:r>
                        <a:rPr lang="en-IN" sz="1200" dirty="0"/>
                        <a:t>Data analysis, experimentation and development</a:t>
                      </a:r>
                      <a:endParaRPr lang="en-US" altLang="en-US" sz="1200" dirty="0"/>
                    </a:p>
                  </a:txBody>
                  <a:tcPr/>
                </a:tc>
                <a:extLst>
                  <a:ext uri="{0D108BD9-81ED-4DB2-BD59-A6C34878D82A}">
                    <a16:rowId xmlns:a16="http://schemas.microsoft.com/office/drawing/2014/main" val="10002"/>
                  </a:ext>
                </a:extLst>
              </a:tr>
              <a:tr h="623570">
                <a:tc>
                  <a:txBody>
                    <a:bodyPr/>
                    <a:lstStyle/>
                    <a:p>
                      <a:pPr>
                        <a:buNone/>
                      </a:pPr>
                      <a:r>
                        <a:rPr lang="en-US" altLang="en-US" sz="1200"/>
                        <a:t>Data Processing</a:t>
                      </a:r>
                    </a:p>
                  </a:txBody>
                  <a:tcPr/>
                </a:tc>
                <a:tc>
                  <a:txBody>
                    <a:bodyPr/>
                    <a:lstStyle/>
                    <a:p>
                      <a:pPr>
                        <a:buNone/>
                      </a:pPr>
                      <a:r>
                        <a:rPr lang="en-US" altLang="en-US" sz="1200"/>
                        <a:t>Pandas</a:t>
                      </a:r>
                    </a:p>
                  </a:txBody>
                  <a:tcPr/>
                </a:tc>
                <a:tc>
                  <a:txBody>
                    <a:bodyPr/>
                    <a:lstStyle/>
                    <a:p>
                      <a:pPr>
                        <a:buNone/>
                      </a:pPr>
                      <a:r>
                        <a:rPr lang="en-US" altLang="en-US" sz="1200"/>
                        <a:t>Data loading, cleaning, transformation, and analysis</a:t>
                      </a:r>
                    </a:p>
                  </a:txBody>
                  <a:tcPr/>
                </a:tc>
                <a:extLst>
                  <a:ext uri="{0D108BD9-81ED-4DB2-BD59-A6C34878D82A}">
                    <a16:rowId xmlns:a16="http://schemas.microsoft.com/office/drawing/2014/main" val="10003"/>
                  </a:ext>
                </a:extLst>
              </a:tr>
              <a:tr h="873125">
                <a:tc>
                  <a:txBody>
                    <a:bodyPr/>
                    <a:lstStyle/>
                    <a:p>
                      <a:pPr>
                        <a:buNone/>
                      </a:pPr>
                      <a:r>
                        <a:rPr lang="en-US" altLang="en-US" sz="1200" dirty="0"/>
                        <a:t>Data Visualization</a:t>
                      </a:r>
                    </a:p>
                  </a:txBody>
                  <a:tcPr/>
                </a:tc>
                <a:tc>
                  <a:txBody>
                    <a:bodyPr/>
                    <a:lstStyle/>
                    <a:p>
                      <a:pPr>
                        <a:buNone/>
                      </a:pPr>
                      <a:r>
                        <a:rPr lang="en-IN" sz="1200" dirty="0" err="1"/>
                        <a:t>Plotly</a:t>
                      </a:r>
                      <a:endParaRPr lang="en-US" altLang="en-US" sz="1200" dirty="0"/>
                    </a:p>
                  </a:txBody>
                  <a:tcPr/>
                </a:tc>
                <a:tc>
                  <a:txBody>
                    <a:bodyPr/>
                    <a:lstStyle/>
                    <a:p>
                      <a:pPr>
                        <a:buNone/>
                      </a:pPr>
                      <a:r>
                        <a:rPr lang="en-IN" sz="1200" dirty="0"/>
                        <a:t>Interactive business charts and dashboard visualization</a:t>
                      </a:r>
                      <a:endParaRPr lang="en-US" altLang="en-US" sz="1200" dirty="0"/>
                    </a:p>
                  </a:txBody>
                  <a:tcPr/>
                </a:tc>
                <a:extLst>
                  <a:ext uri="{0D108BD9-81ED-4DB2-BD59-A6C34878D82A}">
                    <a16:rowId xmlns:a16="http://schemas.microsoft.com/office/drawing/2014/main" val="10004"/>
                  </a:ext>
                </a:extLst>
              </a:tr>
              <a:tr h="873125">
                <a:tc>
                  <a:txBody>
                    <a:bodyPr/>
                    <a:lstStyle/>
                    <a:p>
                      <a:pPr>
                        <a:buNone/>
                      </a:pPr>
                      <a:r>
                        <a:rPr lang="en-IN" sz="1200" dirty="0"/>
                        <a:t>Frontend</a:t>
                      </a:r>
                      <a:endParaRPr lang="en-US" altLang="en-US" sz="1200" dirty="0"/>
                    </a:p>
                  </a:txBody>
                  <a:tcPr/>
                </a:tc>
                <a:tc>
                  <a:txBody>
                    <a:bodyPr/>
                    <a:lstStyle/>
                    <a:p>
                      <a:pPr>
                        <a:buNone/>
                      </a:pPr>
                      <a:r>
                        <a:rPr lang="en-IN" sz="1200" dirty="0"/>
                        <a:t>HTML, CSS, JavaScript</a:t>
                      </a:r>
                      <a:endParaRPr lang="en-US" altLang="en-US" sz="1200" dirty="0"/>
                    </a:p>
                  </a:txBody>
                  <a:tcPr/>
                </a:tc>
                <a:tc>
                  <a:txBody>
                    <a:bodyPr/>
                    <a:lstStyle/>
                    <a:p>
                      <a:pPr>
                        <a:buNone/>
                      </a:pPr>
                      <a:r>
                        <a:rPr lang="en-IN" sz="1200" dirty="0"/>
                        <a:t>Dashboard structure, design and interaction</a:t>
                      </a:r>
                      <a:endParaRPr lang="en-US" altLang="en-US" sz="1200" dirty="0"/>
                    </a:p>
                  </a:txBody>
                  <a:tcPr/>
                </a:tc>
                <a:extLst>
                  <a:ext uri="{0D108BD9-81ED-4DB2-BD59-A6C34878D82A}">
                    <a16:rowId xmlns:a16="http://schemas.microsoft.com/office/drawing/2014/main" val="10005"/>
                  </a:ext>
                </a:extLst>
              </a:tr>
              <a:tr h="623570">
                <a:tc>
                  <a:txBody>
                    <a:bodyPr/>
                    <a:lstStyle/>
                    <a:p>
                      <a:pPr>
                        <a:buNone/>
                      </a:pPr>
                      <a:r>
                        <a:rPr lang="en-IN" sz="1200" dirty="0"/>
                        <a:t>Backend</a:t>
                      </a:r>
                      <a:endParaRPr lang="en-US" altLang="en-US" sz="1200" dirty="0"/>
                    </a:p>
                  </a:txBody>
                  <a:tcPr/>
                </a:tc>
                <a:tc>
                  <a:txBody>
                    <a:bodyPr/>
                    <a:lstStyle/>
                    <a:p>
                      <a:pPr>
                        <a:buNone/>
                      </a:pPr>
                      <a:r>
                        <a:rPr lang="en-IN" sz="1200" dirty="0"/>
                        <a:t>Flask</a:t>
                      </a:r>
                      <a:endParaRPr lang="en-US" altLang="en-US" sz="1200" dirty="0"/>
                    </a:p>
                  </a:txBody>
                  <a:tcPr/>
                </a:tc>
                <a:tc>
                  <a:txBody>
                    <a:bodyPr/>
                    <a:lstStyle/>
                    <a:p>
                      <a:pPr>
                        <a:buNone/>
                      </a:pPr>
                      <a:r>
                        <a:rPr lang="en-IN" sz="1200" dirty="0"/>
                        <a:t>Random Forest regression and model evaluation</a:t>
                      </a:r>
                      <a:endParaRPr lang="en-US" altLang="en-US" sz="1200" dirty="0"/>
                    </a:p>
                  </a:txBody>
                  <a:tcPr/>
                </a:tc>
                <a:extLst>
                  <a:ext uri="{0D108BD9-81ED-4DB2-BD59-A6C34878D82A}">
                    <a16:rowId xmlns:a16="http://schemas.microsoft.com/office/drawing/2014/main" val="10006"/>
                  </a:ext>
                </a:extLst>
              </a:tr>
              <a:tr h="623570">
                <a:tc>
                  <a:txBody>
                    <a:bodyPr/>
                    <a:lstStyle/>
                    <a:p>
                      <a:pPr>
                        <a:buNone/>
                      </a:pPr>
                      <a:r>
                        <a:rPr lang="en-IN" sz="1200" dirty="0"/>
                        <a:t>Data Storage</a:t>
                      </a:r>
                      <a:endParaRPr lang="en-US" altLang="en-US" sz="1200" dirty="0"/>
                    </a:p>
                  </a:txBody>
                  <a:tcPr/>
                </a:tc>
                <a:tc>
                  <a:txBody>
                    <a:bodyPr/>
                    <a:lstStyle/>
                    <a:p>
                      <a:pPr>
                        <a:buNone/>
                      </a:pPr>
                      <a:r>
                        <a:rPr lang="en-IN" sz="1200" dirty="0"/>
                        <a:t>CSV</a:t>
                      </a:r>
                      <a:endParaRPr lang="en-US" altLang="en-US" sz="1200" dirty="0"/>
                    </a:p>
                  </a:txBody>
                  <a:tcPr/>
                </a:tc>
                <a:tc>
                  <a:txBody>
                    <a:bodyPr/>
                    <a:lstStyle/>
                    <a:p>
                      <a:pPr>
                        <a:buNone/>
                      </a:pPr>
                      <a:r>
                        <a:rPr lang="en-IN" sz="1200" dirty="0"/>
                        <a:t>Storing the four sales datasets</a:t>
                      </a:r>
                      <a:endParaRPr lang="en-US" altLang="en-US" sz="1200" dirty="0"/>
                    </a:p>
                  </a:txBody>
                  <a:tcPr/>
                </a:tc>
                <a:extLst>
                  <a:ext uri="{0D108BD9-81ED-4DB2-BD59-A6C34878D82A}">
                    <a16:rowId xmlns:a16="http://schemas.microsoft.com/office/drawing/2014/main" val="10007"/>
                  </a:ext>
                </a:extLst>
              </a:tr>
            </a:tbl>
          </a:graphicData>
        </a:graphic>
      </p:graphicFrame>
      <p:pic>
        <p:nvPicPr>
          <p:cNvPr id="21506" name="Picture 2" descr="Koneru Lakshmaiah Education Foundation, Bachupally Campus Courses ..."/>
          <p:cNvPicPr>
            <a:picLocks noChangeAspect="1" noChangeArrowheads="1"/>
          </p:cNvPicPr>
          <p:nvPr/>
        </p:nvPicPr>
        <p:blipFill>
          <a:blip r:embed="rId5"/>
          <a:srcRect t="16961" b="27101"/>
          <a:stretch>
            <a:fillRect/>
          </a:stretch>
        </p:blipFill>
        <p:spPr bwMode="auto">
          <a:xfrm>
            <a:off x="0" y="0"/>
            <a:ext cx="2095500" cy="1145540"/>
          </a:xfrm>
          <a:prstGeom prst="rect">
            <a:avLst/>
          </a:prstGeom>
          <a:noFill/>
        </p:spPr>
      </p:pic>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2404110" y="440055"/>
            <a:ext cx="7731760" cy="705485"/>
          </a:xfrm>
        </p:spPr>
        <p:txBody>
          <a:bodyPr>
            <a:normAutofit/>
          </a:bodyPr>
          <a:lstStyle/>
          <a:p>
            <a:pPr algn="ctr"/>
            <a:r>
              <a:rPr lang="en-US" b="1" dirty="0">
                <a:latin typeface="Times New Roman" panose="02020603050405020304" pitchFamily="18" charset="0"/>
                <a:cs typeface="Times New Roman" panose="02020603050405020304" pitchFamily="18" charset="0"/>
                <a:sym typeface="+mn-ea"/>
              </a:rPr>
              <a:t>Implementation</a:t>
            </a:r>
            <a:endParaRPr lang="en-US"/>
          </a:p>
        </p:txBody>
      </p:sp>
      <p:pic>
        <p:nvPicPr>
          <p:cNvPr id="21506" name="Picture 2" descr="Koneru Lakshmaiah Education Foundation, Bachupally Campus Courses ..."/>
          <p:cNvPicPr>
            <a:picLocks noChangeAspect="1" noChangeArrowheads="1"/>
          </p:cNvPicPr>
          <p:nvPr/>
        </p:nvPicPr>
        <p:blipFill>
          <a:blip r:embed="rId4"/>
          <a:srcRect t="16961" b="27101"/>
          <a:stretch>
            <a:fillRect/>
          </a:stretch>
        </p:blipFill>
        <p:spPr bwMode="auto">
          <a:xfrm>
            <a:off x="0" y="0"/>
            <a:ext cx="2095500" cy="1145540"/>
          </a:xfrm>
          <a:prstGeom prst="rect">
            <a:avLst/>
          </a:prstGeom>
          <a:noFill/>
        </p:spPr>
      </p:pic>
      <p:pic>
        <p:nvPicPr>
          <p:cNvPr id="6" name="Picture 5">
            <a:extLst>
              <a:ext uri="{FF2B5EF4-FFF2-40B4-BE49-F238E27FC236}">
                <a16:creationId xmlns:a16="http://schemas.microsoft.com/office/drawing/2014/main" id="{1A46E459-B20C-D276-2AF6-20E9BB61D70D}"/>
              </a:ext>
            </a:extLst>
          </p:cNvPr>
          <p:cNvPicPr>
            <a:picLocks noChangeAspect="1"/>
          </p:cNvPicPr>
          <p:nvPr/>
        </p:nvPicPr>
        <p:blipFill>
          <a:blip r:embed="rId5"/>
          <a:stretch>
            <a:fillRect/>
          </a:stretch>
        </p:blipFill>
        <p:spPr>
          <a:xfrm>
            <a:off x="204636" y="1427647"/>
            <a:ext cx="5427493" cy="4887615"/>
          </a:xfrm>
          <a:prstGeom prst="rect">
            <a:avLst/>
          </a:prstGeom>
        </p:spPr>
      </p:pic>
      <p:pic>
        <p:nvPicPr>
          <p:cNvPr id="9" name="Picture 8">
            <a:extLst>
              <a:ext uri="{FF2B5EF4-FFF2-40B4-BE49-F238E27FC236}">
                <a16:creationId xmlns:a16="http://schemas.microsoft.com/office/drawing/2014/main" id="{DB4B9273-3B31-F4A6-64AE-2AB0AF753578}"/>
              </a:ext>
            </a:extLst>
          </p:cNvPr>
          <p:cNvPicPr>
            <a:picLocks noChangeAspect="1"/>
          </p:cNvPicPr>
          <p:nvPr/>
        </p:nvPicPr>
        <p:blipFill>
          <a:blip r:embed="rId6"/>
          <a:stretch>
            <a:fillRect/>
          </a:stretch>
        </p:blipFill>
        <p:spPr>
          <a:xfrm>
            <a:off x="5274532" y="1783192"/>
            <a:ext cx="6917468" cy="4634753"/>
          </a:xfrm>
          <a:prstGeom prst="rect">
            <a:avLst/>
          </a:prstGeom>
        </p:spPr>
      </p:pic>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descr="Koneru Lakshmaiah Education Foundation, Bachupally Campus Courses ..."/>
          <p:cNvPicPr>
            <a:picLocks noChangeAspect="1" noChangeArrowheads="1"/>
          </p:cNvPicPr>
          <p:nvPr/>
        </p:nvPicPr>
        <p:blipFill>
          <a:blip r:embed="rId3"/>
          <a:srcRect t="16961" b="27101"/>
          <a:stretch>
            <a:fillRect/>
          </a:stretch>
        </p:blipFill>
        <p:spPr bwMode="auto">
          <a:xfrm>
            <a:off x="0" y="0"/>
            <a:ext cx="2095500" cy="1145540"/>
          </a:xfrm>
          <a:prstGeom prst="rect">
            <a:avLst/>
          </a:prstGeom>
          <a:noFill/>
        </p:spPr>
      </p:pic>
      <p:pic>
        <p:nvPicPr>
          <p:cNvPr id="6" name="Content Placeholder 5">
            <a:extLst>
              <a:ext uri="{FF2B5EF4-FFF2-40B4-BE49-F238E27FC236}">
                <a16:creationId xmlns:a16="http://schemas.microsoft.com/office/drawing/2014/main" id="{ABD09CF1-398E-136E-8A62-AA96E5EFDB1B}"/>
              </a:ext>
            </a:extLst>
          </p:cNvPr>
          <p:cNvPicPr>
            <a:picLocks noGrp="1" noChangeAspect="1"/>
          </p:cNvPicPr>
          <p:nvPr>
            <p:ph idx="1"/>
          </p:nvPr>
        </p:nvPicPr>
        <p:blipFill>
          <a:blip r:embed="rId4"/>
          <a:stretch>
            <a:fillRect/>
          </a:stretch>
        </p:blipFill>
        <p:spPr>
          <a:xfrm>
            <a:off x="534467" y="1490345"/>
            <a:ext cx="4966928" cy="4759325"/>
          </a:xfrm>
          <a:prstGeom prst="rect">
            <a:avLst/>
          </a:prstGeom>
        </p:spPr>
      </p:pic>
      <p:pic>
        <p:nvPicPr>
          <p:cNvPr id="9" name="Picture 8">
            <a:extLst>
              <a:ext uri="{FF2B5EF4-FFF2-40B4-BE49-F238E27FC236}">
                <a16:creationId xmlns:a16="http://schemas.microsoft.com/office/drawing/2014/main" id="{38192740-FAB6-7EFF-1383-A61583A0B34C}"/>
              </a:ext>
            </a:extLst>
          </p:cNvPr>
          <p:cNvPicPr>
            <a:picLocks noChangeAspect="1"/>
          </p:cNvPicPr>
          <p:nvPr/>
        </p:nvPicPr>
        <p:blipFill>
          <a:blip r:embed="rId5"/>
          <a:stretch>
            <a:fillRect/>
          </a:stretch>
        </p:blipFill>
        <p:spPr>
          <a:xfrm>
            <a:off x="6367878" y="1334069"/>
            <a:ext cx="4500473" cy="5071875"/>
          </a:xfrm>
          <a:prstGeom prst="rect">
            <a:avLst/>
          </a:prstGeom>
        </p:spPr>
      </p:pic>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42F6906-1225-4663-9909-B767C54B804A}"/>
              </a:ext>
            </a:extLst>
          </p:cNvPr>
          <p:cNvPicPr>
            <a:picLocks noGrp="1" noChangeAspect="1"/>
          </p:cNvPicPr>
          <p:nvPr>
            <p:ph idx="1"/>
          </p:nvPr>
        </p:nvPicPr>
        <p:blipFill>
          <a:blip r:embed="rId2"/>
          <a:stretch>
            <a:fillRect/>
          </a:stretch>
        </p:blipFill>
        <p:spPr>
          <a:xfrm>
            <a:off x="273921" y="1049337"/>
            <a:ext cx="5167656" cy="4759325"/>
          </a:xfrm>
          <a:prstGeom prst="rect">
            <a:avLst/>
          </a:prstGeom>
        </p:spPr>
      </p:pic>
      <p:pic>
        <p:nvPicPr>
          <p:cNvPr id="7" name="Picture 6">
            <a:extLst>
              <a:ext uri="{FF2B5EF4-FFF2-40B4-BE49-F238E27FC236}">
                <a16:creationId xmlns:a16="http://schemas.microsoft.com/office/drawing/2014/main" id="{E3ACD59C-CB76-0A92-8424-4BFF8CBF15EE}"/>
              </a:ext>
            </a:extLst>
          </p:cNvPr>
          <p:cNvPicPr>
            <a:picLocks noChangeAspect="1"/>
          </p:cNvPicPr>
          <p:nvPr/>
        </p:nvPicPr>
        <p:blipFill>
          <a:blip r:embed="rId3"/>
          <a:stretch>
            <a:fillRect/>
          </a:stretch>
        </p:blipFill>
        <p:spPr>
          <a:xfrm>
            <a:off x="5861486" y="878541"/>
            <a:ext cx="6330514" cy="5423647"/>
          </a:xfrm>
          <a:prstGeom prst="rect">
            <a:avLst/>
          </a:prstGeom>
        </p:spPr>
      </p:pic>
    </p:spTree>
    <p:extLst>
      <p:ext uri="{BB962C8B-B14F-4D97-AF65-F5344CB8AC3E}">
        <p14:creationId xmlns:p14="http://schemas.microsoft.com/office/powerpoint/2010/main" val="22514431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716704D-ECE3-550A-A858-1367000E8F10}"/>
              </a:ext>
            </a:extLst>
          </p:cNvPr>
          <p:cNvPicPr>
            <a:picLocks noGrp="1" noChangeAspect="1"/>
          </p:cNvPicPr>
          <p:nvPr>
            <p:ph idx="1"/>
          </p:nvPr>
        </p:nvPicPr>
        <p:blipFill>
          <a:blip r:embed="rId2"/>
          <a:stretch>
            <a:fillRect/>
          </a:stretch>
        </p:blipFill>
        <p:spPr>
          <a:xfrm>
            <a:off x="539961" y="1409979"/>
            <a:ext cx="5556039" cy="4759325"/>
          </a:xfrm>
          <a:prstGeom prst="rect">
            <a:avLst/>
          </a:prstGeom>
        </p:spPr>
      </p:pic>
      <p:pic>
        <p:nvPicPr>
          <p:cNvPr id="7" name="Picture 6">
            <a:extLst>
              <a:ext uri="{FF2B5EF4-FFF2-40B4-BE49-F238E27FC236}">
                <a16:creationId xmlns:a16="http://schemas.microsoft.com/office/drawing/2014/main" id="{D13DD673-9575-9CFB-1C6A-D40F0560D668}"/>
              </a:ext>
            </a:extLst>
          </p:cNvPr>
          <p:cNvPicPr>
            <a:picLocks noChangeAspect="1"/>
          </p:cNvPicPr>
          <p:nvPr/>
        </p:nvPicPr>
        <p:blipFill>
          <a:blip r:embed="rId3"/>
          <a:stretch>
            <a:fillRect/>
          </a:stretch>
        </p:blipFill>
        <p:spPr>
          <a:xfrm>
            <a:off x="6514716" y="1259547"/>
            <a:ext cx="5677284" cy="5060188"/>
          </a:xfrm>
          <a:prstGeom prst="rect">
            <a:avLst/>
          </a:prstGeom>
        </p:spPr>
      </p:pic>
    </p:spTree>
    <p:extLst>
      <p:ext uri="{BB962C8B-B14F-4D97-AF65-F5344CB8AC3E}">
        <p14:creationId xmlns:p14="http://schemas.microsoft.com/office/powerpoint/2010/main" val="39492341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F45067B-C559-C38D-9F77-058CAFC20B3E}"/>
              </a:ext>
            </a:extLst>
          </p:cNvPr>
          <p:cNvPicPr>
            <a:picLocks noGrp="1" noChangeAspect="1"/>
          </p:cNvPicPr>
          <p:nvPr>
            <p:ph idx="1"/>
          </p:nvPr>
        </p:nvPicPr>
        <p:blipFill>
          <a:blip r:embed="rId2"/>
          <a:stretch>
            <a:fillRect/>
          </a:stretch>
        </p:blipFill>
        <p:spPr>
          <a:xfrm>
            <a:off x="608400" y="1490275"/>
            <a:ext cx="4893741" cy="4759325"/>
          </a:xfrm>
          <a:prstGeom prst="rect">
            <a:avLst/>
          </a:prstGeom>
        </p:spPr>
      </p:pic>
      <p:pic>
        <p:nvPicPr>
          <p:cNvPr id="7" name="Picture 6">
            <a:extLst>
              <a:ext uri="{FF2B5EF4-FFF2-40B4-BE49-F238E27FC236}">
                <a16:creationId xmlns:a16="http://schemas.microsoft.com/office/drawing/2014/main" id="{7492D4D7-E283-1192-E32F-EFA5A6DD39A3}"/>
              </a:ext>
            </a:extLst>
          </p:cNvPr>
          <p:cNvPicPr>
            <a:picLocks noChangeAspect="1"/>
          </p:cNvPicPr>
          <p:nvPr/>
        </p:nvPicPr>
        <p:blipFill>
          <a:blip r:embed="rId3"/>
          <a:stretch>
            <a:fillRect/>
          </a:stretch>
        </p:blipFill>
        <p:spPr>
          <a:xfrm>
            <a:off x="5876169" y="608400"/>
            <a:ext cx="5797890" cy="6006354"/>
          </a:xfrm>
          <a:prstGeom prst="rect">
            <a:avLst/>
          </a:prstGeom>
        </p:spPr>
      </p:pic>
    </p:spTree>
    <p:extLst>
      <p:ext uri="{BB962C8B-B14F-4D97-AF65-F5344CB8AC3E}">
        <p14:creationId xmlns:p14="http://schemas.microsoft.com/office/powerpoint/2010/main" val="28880955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C0DA2AC-5455-A919-B3D4-B34CC753AA78}"/>
              </a:ext>
            </a:extLst>
          </p:cNvPr>
          <p:cNvPicPr>
            <a:picLocks noGrp="1" noChangeAspect="1"/>
          </p:cNvPicPr>
          <p:nvPr>
            <p:ph idx="1"/>
          </p:nvPr>
        </p:nvPicPr>
        <p:blipFill>
          <a:blip r:embed="rId2"/>
          <a:stretch>
            <a:fillRect/>
          </a:stretch>
        </p:blipFill>
        <p:spPr>
          <a:xfrm>
            <a:off x="2039134" y="1490275"/>
            <a:ext cx="8663193" cy="4759325"/>
          </a:xfrm>
          <a:prstGeom prst="rect">
            <a:avLst/>
          </a:prstGeom>
        </p:spPr>
      </p:pic>
    </p:spTree>
    <p:extLst>
      <p:ext uri="{BB962C8B-B14F-4D97-AF65-F5344CB8AC3E}">
        <p14:creationId xmlns:p14="http://schemas.microsoft.com/office/powerpoint/2010/main" val="35593781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8A49FB6-A7C9-AA6F-29B8-29D7B1FF1051}"/>
              </a:ext>
            </a:extLst>
          </p:cNvPr>
          <p:cNvPicPr>
            <a:picLocks noGrp="1" noChangeAspect="1"/>
          </p:cNvPicPr>
          <p:nvPr>
            <p:ph idx="1"/>
          </p:nvPr>
        </p:nvPicPr>
        <p:blipFill>
          <a:blip r:embed="rId2"/>
          <a:stretch>
            <a:fillRect/>
          </a:stretch>
        </p:blipFill>
        <p:spPr>
          <a:xfrm>
            <a:off x="3246566" y="1123110"/>
            <a:ext cx="5698868" cy="4759325"/>
          </a:xfrm>
          <a:prstGeom prst="rect">
            <a:avLst/>
          </a:prstGeom>
        </p:spPr>
      </p:pic>
    </p:spTree>
    <p:extLst>
      <p:ext uri="{BB962C8B-B14F-4D97-AF65-F5344CB8AC3E}">
        <p14:creationId xmlns:p14="http://schemas.microsoft.com/office/powerpoint/2010/main" val="41582593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4275455" y="303530"/>
            <a:ext cx="3103245" cy="705485"/>
          </a:xfrm>
        </p:spPr>
        <p:txBody>
          <a:bodyPr>
            <a:normAutofit/>
          </a:bodyPr>
          <a:lstStyle/>
          <a:p>
            <a:pPr algn="ctr"/>
            <a:r>
              <a:rPr lang="en-US" b="1" dirty="0">
                <a:latin typeface="Times New Roman" panose="02020603050405020304" pitchFamily="18" charset="0"/>
                <a:cs typeface="Times New Roman" panose="02020603050405020304" pitchFamily="18" charset="0"/>
                <a:sym typeface="+mn-ea"/>
              </a:rPr>
              <a:t>Results</a:t>
            </a:r>
            <a:endParaRPr lang="en-US" dirty="0"/>
          </a:p>
        </p:txBody>
      </p:sp>
      <p:sp>
        <p:nvSpPr>
          <p:cNvPr id="3" name="Content Placeholder 2"/>
          <p:cNvSpPr>
            <a:spLocks noGrp="1"/>
          </p:cNvSpPr>
          <p:nvPr>
            <p:ph idx="1"/>
            <p:custDataLst>
              <p:tags r:id="rId3"/>
            </p:custDataLst>
          </p:nvPr>
        </p:nvSpPr>
        <p:spPr>
          <a:xfrm>
            <a:off x="713002" y="1049400"/>
            <a:ext cx="10969200" cy="4759200"/>
          </a:xfrm>
        </p:spPr>
        <p:txBody>
          <a:bodyPr>
            <a:noAutofit/>
          </a:bodyPr>
          <a:lstStyle/>
          <a:p>
            <a:r>
              <a:rPr lang="en-IN" sz="1200" b="1" dirty="0"/>
              <a:t>Data Processing:</a:t>
            </a:r>
            <a:endParaRPr lang="en-IN" sz="1200" dirty="0"/>
          </a:p>
          <a:p>
            <a:r>
              <a:rPr lang="en-IN" sz="1200" dirty="0"/>
              <a:t>Successfully cleaned and normalized four different sales datasets for dashboard analysis.</a:t>
            </a:r>
          </a:p>
          <a:p>
            <a:r>
              <a:rPr lang="en-IN" sz="1200" b="1" dirty="0"/>
              <a:t>EDA Findings:</a:t>
            </a:r>
            <a:endParaRPr lang="en-IN" sz="1200" dirty="0"/>
          </a:p>
          <a:p>
            <a:r>
              <a:rPr lang="en-IN" sz="1200" dirty="0"/>
              <a:t>Identified sales trends, category performance, regional performance, customer segment </a:t>
            </a:r>
            <a:r>
              <a:rPr lang="en-IN" sz="1200" dirty="0" err="1"/>
              <a:t>behavior</a:t>
            </a:r>
            <a:r>
              <a:rPr lang="en-IN" sz="1200" dirty="0"/>
              <a:t>, product rankings, profitability, and discount-profit patterns.</a:t>
            </a:r>
          </a:p>
          <a:p>
            <a:r>
              <a:rPr lang="en-IN" sz="1200" b="1" dirty="0"/>
              <a:t>Feature Engineering:</a:t>
            </a:r>
            <a:endParaRPr lang="en-IN" sz="1200" dirty="0"/>
          </a:p>
          <a:p>
            <a:r>
              <a:rPr lang="en-IN" sz="1200" dirty="0"/>
              <a:t>Created Year, Month, Quarter, and Profit Margin features where applicable.</a:t>
            </a:r>
          </a:p>
          <a:p>
            <a:r>
              <a:rPr lang="en-IN" sz="1200" b="1" dirty="0"/>
              <a:t>Dashboard Outcome:</a:t>
            </a:r>
            <a:endParaRPr lang="en-IN" sz="1200" dirty="0"/>
          </a:p>
          <a:p>
            <a:r>
              <a:rPr lang="en-IN" sz="1200" dirty="0"/>
              <a:t>Implemented interactive dataset selection, dynamic filters, KPI analysis, and multiple </a:t>
            </a:r>
            <a:r>
              <a:rPr lang="en-IN" sz="1200" dirty="0" err="1"/>
              <a:t>Plotly</a:t>
            </a:r>
            <a:r>
              <a:rPr lang="en-IN" sz="1200" dirty="0"/>
              <a:t> visualizations.</a:t>
            </a:r>
          </a:p>
          <a:p>
            <a:r>
              <a:rPr lang="en-IN" sz="1200" b="1" dirty="0"/>
              <a:t>Machine Learning Outcome:</a:t>
            </a:r>
            <a:endParaRPr lang="en-IN" sz="1200" dirty="0"/>
          </a:p>
          <a:p>
            <a:r>
              <a:rPr lang="en-IN" sz="1200" dirty="0"/>
              <a:t>Implemented Random Forest Regression for Sales Prediction and integrated model evaluation into the dashboard.</a:t>
            </a:r>
          </a:p>
          <a:p>
            <a:r>
              <a:rPr lang="en-IN" sz="1200" b="1" dirty="0"/>
              <a:t>Data Story Outcome:</a:t>
            </a:r>
            <a:endParaRPr lang="en-IN" sz="1200" dirty="0"/>
          </a:p>
          <a:p>
            <a:r>
              <a:rPr lang="en-IN" sz="1200" dirty="0"/>
              <a:t>Converted analytical findings into:</a:t>
            </a:r>
          </a:p>
          <a:p>
            <a:r>
              <a:rPr lang="en-IN" sz="1200" b="1" dirty="0"/>
              <a:t>Finding → Meaning → Decision → Recommendation</a:t>
            </a:r>
            <a:endParaRPr lang="en-IN" sz="1200" dirty="0"/>
          </a:p>
          <a:p>
            <a:r>
              <a:rPr lang="en-IN" sz="1200" b="1" dirty="0"/>
              <a:t>Final Outcome:</a:t>
            </a:r>
            <a:endParaRPr lang="en-IN" sz="1200" dirty="0"/>
          </a:p>
          <a:p>
            <a:r>
              <a:rPr lang="en-IN" sz="1200" dirty="0"/>
              <a:t>Cleaned Data → EDA → Features → ML Prediction → Visualization → Data Story → Decision Analytics</a:t>
            </a:r>
          </a:p>
        </p:txBody>
      </p:sp>
      <p:pic>
        <p:nvPicPr>
          <p:cNvPr id="21506" name="Picture 2" descr="Koneru Lakshmaiah Education Foundation, Bachupally Campus Courses ..."/>
          <p:cNvPicPr>
            <a:picLocks noChangeAspect="1" noChangeArrowheads="1"/>
          </p:cNvPicPr>
          <p:nvPr/>
        </p:nvPicPr>
        <p:blipFill>
          <a:blip r:embed="rId5"/>
          <a:srcRect t="16961" b="27101"/>
          <a:stretch>
            <a:fillRect/>
          </a:stretch>
        </p:blipFill>
        <p:spPr bwMode="auto">
          <a:xfrm>
            <a:off x="0" y="0"/>
            <a:ext cx="2095500" cy="1145540"/>
          </a:xfrm>
          <a:prstGeom prst="rect">
            <a:avLst/>
          </a:prstGeom>
          <a:noFill/>
        </p:spPr>
      </p:pic>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3845560" y="321945"/>
            <a:ext cx="5735955" cy="705485"/>
          </a:xfrm>
        </p:spPr>
        <p:txBody>
          <a:bodyPr>
            <a:normAutofit fontScale="90000"/>
          </a:bodyPr>
          <a:lstStyle/>
          <a:p>
            <a:pPr algn="ctr"/>
            <a:r>
              <a:rPr lang="en-US" altLang="en-US" b="1">
                <a:latin typeface="Times New Roman" panose="02020603050405020304" pitchFamily="18" charset="0"/>
                <a:cs typeface="Times New Roman" panose="02020603050405020304" pitchFamily="18" charset="0"/>
                <a:sym typeface="+mn-ea"/>
              </a:rPr>
              <a:t>Performance Evaluation</a:t>
            </a:r>
            <a:endParaRPr lang="en-US" b="1"/>
          </a:p>
        </p:txBody>
      </p:sp>
      <p:sp>
        <p:nvSpPr>
          <p:cNvPr id="3" name="Content Placeholder 2"/>
          <p:cNvSpPr>
            <a:spLocks noGrp="1"/>
          </p:cNvSpPr>
          <p:nvPr>
            <p:ph idx="1"/>
            <p:custDataLst>
              <p:tags r:id="rId3"/>
            </p:custDataLst>
          </p:nvPr>
        </p:nvSpPr>
        <p:spPr/>
        <p:txBody>
          <a:bodyPr>
            <a:noAutofit/>
          </a:bodyPr>
          <a:lstStyle/>
          <a:p>
            <a:pPr marL="0" indent="0">
              <a:buNone/>
            </a:pPr>
            <a:r>
              <a:rPr lang="en-IN" sz="1200" b="1" dirty="0"/>
              <a:t>Model Evaluation</a:t>
            </a:r>
          </a:p>
          <a:p>
            <a:r>
              <a:rPr lang="en-IN" sz="1200" dirty="0"/>
              <a:t>Evaluated the </a:t>
            </a:r>
            <a:r>
              <a:rPr lang="en-IN" sz="1200" b="1" dirty="0"/>
              <a:t>Random Forest Regressor</a:t>
            </a:r>
            <a:r>
              <a:rPr lang="en-IN" sz="1200" dirty="0"/>
              <a:t> for Sales Prediction.</a:t>
            </a:r>
          </a:p>
          <a:p>
            <a:pPr marL="0" indent="0">
              <a:buNone/>
            </a:pPr>
            <a:r>
              <a:rPr lang="en-IN" sz="1200" b="1" dirty="0"/>
              <a:t>Evaluation Metrics</a:t>
            </a:r>
          </a:p>
          <a:p>
            <a:r>
              <a:rPr lang="en-IN" sz="1200" b="1" dirty="0"/>
              <a:t>R² Score:</a:t>
            </a:r>
            <a:r>
              <a:rPr lang="en-IN" sz="1200" dirty="0"/>
              <a:t> Measures how well the model explains the variation in Sales.</a:t>
            </a:r>
          </a:p>
          <a:p>
            <a:r>
              <a:rPr lang="en-IN" sz="1200" b="1" dirty="0"/>
              <a:t>MAE:</a:t>
            </a:r>
            <a:r>
              <a:rPr lang="en-IN" sz="1200" dirty="0"/>
              <a:t> Measures the average absolute difference between actual and predicted Sales.</a:t>
            </a:r>
          </a:p>
          <a:p>
            <a:r>
              <a:rPr lang="en-IN" sz="1200" b="1" dirty="0"/>
              <a:t>RMSE:</a:t>
            </a:r>
            <a:r>
              <a:rPr lang="en-IN" sz="1200" dirty="0"/>
              <a:t> Measures prediction error while giving greater weight to larger errors.</a:t>
            </a:r>
          </a:p>
          <a:p>
            <a:pPr marL="0" indent="0">
              <a:buNone/>
            </a:pPr>
            <a:r>
              <a:rPr lang="en-IN" sz="1200" b="1" dirty="0"/>
              <a:t>Model Validation</a:t>
            </a:r>
          </a:p>
          <a:p>
            <a:r>
              <a:rPr lang="en-IN" sz="1200" dirty="0"/>
              <a:t>Used an 80:20 train-test split.</a:t>
            </a:r>
          </a:p>
          <a:p>
            <a:r>
              <a:rPr lang="en-IN" sz="1200" dirty="0"/>
              <a:t>Trained the model on the training set.</a:t>
            </a:r>
          </a:p>
          <a:p>
            <a:r>
              <a:rPr lang="en-IN" sz="1200" dirty="0"/>
              <a:t>Generated predictions on unseen test data.</a:t>
            </a:r>
          </a:p>
          <a:p>
            <a:r>
              <a:rPr lang="en-IN" sz="1200" dirty="0"/>
              <a:t>Compared actual and predicted sales.</a:t>
            </a:r>
          </a:p>
          <a:p>
            <a:r>
              <a:rPr lang="en-IN" sz="1200" dirty="0"/>
              <a:t>Displayed model performance metrics in the dashboard.</a:t>
            </a:r>
          </a:p>
        </p:txBody>
      </p:sp>
      <p:pic>
        <p:nvPicPr>
          <p:cNvPr id="21506" name="Picture 2" descr="Koneru Lakshmaiah Education Foundation, Bachupally Campus Courses ..."/>
          <p:cNvPicPr>
            <a:picLocks noChangeAspect="1" noChangeArrowheads="1"/>
          </p:cNvPicPr>
          <p:nvPr/>
        </p:nvPicPr>
        <p:blipFill>
          <a:blip r:embed="rId5"/>
          <a:srcRect t="16961" b="27101"/>
          <a:stretch>
            <a:fillRect/>
          </a:stretch>
        </p:blipFill>
        <p:spPr bwMode="auto">
          <a:xfrm>
            <a:off x="0" y="0"/>
            <a:ext cx="2095500" cy="1145540"/>
          </a:xfrm>
          <a:prstGeom prst="rect">
            <a:avLst/>
          </a:prstGeom>
          <a:noFill/>
        </p:spPr>
      </p:pic>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0EC55F-5914-E2BF-C95F-4CF586F0245C}"/>
              </a:ext>
            </a:extLst>
          </p:cNvPr>
          <p:cNvSpPr>
            <a:spLocks noGrp="1"/>
          </p:cNvSpPr>
          <p:nvPr>
            <p:ph idx="1"/>
          </p:nvPr>
        </p:nvSpPr>
        <p:spPr>
          <a:xfrm>
            <a:off x="483709" y="833695"/>
            <a:ext cx="10969200" cy="4759200"/>
          </a:xfrm>
        </p:spPr>
        <p:txBody>
          <a:bodyPr>
            <a:normAutofit fontScale="85000" lnSpcReduction="20000"/>
          </a:bodyPr>
          <a:lstStyle/>
          <a:p>
            <a:pPr marL="0" indent="0">
              <a:buNone/>
            </a:pPr>
            <a:endParaRPr lang="en-IN" dirty="0"/>
          </a:p>
          <a:p>
            <a:pPr marL="0" indent="0">
              <a:buNone/>
            </a:pPr>
            <a:r>
              <a:rPr lang="en-IN" b="1" dirty="0"/>
              <a:t>Functional Evaluation</a:t>
            </a:r>
          </a:p>
          <a:p>
            <a:r>
              <a:rPr lang="en-IN" dirty="0"/>
              <a:t>Tested:</a:t>
            </a:r>
          </a:p>
          <a:p>
            <a:r>
              <a:rPr lang="en-IN" dirty="0"/>
              <a:t>Dataset switching</a:t>
            </a:r>
          </a:p>
          <a:p>
            <a:r>
              <a:rPr lang="en-IN" dirty="0"/>
              <a:t>Dynamic filters</a:t>
            </a:r>
          </a:p>
          <a:p>
            <a:r>
              <a:rPr lang="en-IN" dirty="0"/>
              <a:t>KPI calculations</a:t>
            </a:r>
          </a:p>
          <a:p>
            <a:r>
              <a:rPr lang="en-IN" dirty="0"/>
              <a:t>Chart rendering</a:t>
            </a:r>
          </a:p>
          <a:p>
            <a:r>
              <a:rPr lang="en-IN" dirty="0"/>
              <a:t>ML prediction section</a:t>
            </a:r>
          </a:p>
          <a:p>
            <a:r>
              <a:rPr lang="en-IN" dirty="0"/>
              <a:t>Data Story updates</a:t>
            </a:r>
          </a:p>
          <a:p>
            <a:r>
              <a:rPr lang="en-IN" dirty="0"/>
              <a:t>Reset Filters</a:t>
            </a:r>
          </a:p>
          <a:p>
            <a:pPr marL="0" indent="0">
              <a:buNone/>
            </a:pPr>
            <a:r>
              <a:rPr lang="en-IN" b="1" dirty="0"/>
              <a:t>Final Outcome:</a:t>
            </a:r>
            <a:endParaRPr lang="en-IN" dirty="0"/>
          </a:p>
          <a:p>
            <a:r>
              <a:rPr lang="en-IN" dirty="0"/>
              <a:t>ML Model → Performance Metrics → Actual vs Predicted → Data Story → Decision Support</a:t>
            </a:r>
          </a:p>
          <a:p>
            <a:endParaRPr lang="en-IN" dirty="0"/>
          </a:p>
        </p:txBody>
      </p:sp>
    </p:spTree>
    <p:extLst>
      <p:ext uri="{BB962C8B-B14F-4D97-AF65-F5344CB8AC3E}">
        <p14:creationId xmlns:p14="http://schemas.microsoft.com/office/powerpoint/2010/main" val="13482070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1964055" y="643890"/>
            <a:ext cx="9352915" cy="956310"/>
          </a:xfrm>
        </p:spPr>
        <p:txBody>
          <a:bodyPr>
            <a:noAutofit/>
          </a:bodyPr>
          <a:lstStyle/>
          <a:p>
            <a:pPr algn="ctr"/>
            <a:r>
              <a:rPr lang="en-US" altLang="en-US" sz="3200" b="1"/>
              <a:t>Implementation of the proposed hybrid model</a:t>
            </a:r>
          </a:p>
        </p:txBody>
      </p:sp>
      <p:sp>
        <p:nvSpPr>
          <p:cNvPr id="3" name="Content Placeholder 2"/>
          <p:cNvSpPr>
            <a:spLocks noGrp="1"/>
          </p:cNvSpPr>
          <p:nvPr>
            <p:ph idx="1"/>
            <p:custDataLst>
              <p:tags r:id="rId3"/>
            </p:custDataLst>
          </p:nvPr>
        </p:nvSpPr>
        <p:spPr>
          <a:xfrm>
            <a:off x="410845" y="2314575"/>
            <a:ext cx="10968990" cy="3729990"/>
          </a:xfrm>
        </p:spPr>
        <p:txBody>
          <a:bodyPr>
            <a:noAutofit/>
          </a:bodyPr>
          <a:lstStyle/>
          <a:p>
            <a:r>
              <a:rPr lang="en-IN" sz="1600" dirty="0"/>
              <a:t>The proposed </a:t>
            </a:r>
            <a:r>
              <a:rPr lang="en-IN" sz="1600" b="1" dirty="0"/>
              <a:t>Hybrid Stacked Regression Ensemble (HSRE)</a:t>
            </a:r>
            <a:r>
              <a:rPr lang="en-IN" sz="1600" dirty="0"/>
              <a:t> integrates multiple regression models for sales prediction. The implementation begins with preprocessing and feature engineering of four sales datasets: </a:t>
            </a:r>
            <a:r>
              <a:rPr lang="en-IN" sz="1600" b="1" dirty="0"/>
              <a:t>Superstore, Global Superstore, Online Sales, and Supermarket Sales</a:t>
            </a:r>
            <a:r>
              <a:rPr lang="en-IN" sz="1600" dirty="0"/>
              <a:t>. Exploratory Data Analysis (EDA) is performed to identify sales, profit, quantity, category, regional, customer-segment, and discount-related patterns.</a:t>
            </a:r>
          </a:p>
          <a:p>
            <a:r>
              <a:rPr lang="en-IN" sz="1600" dirty="0"/>
              <a:t>For predictive analysis, </a:t>
            </a:r>
            <a:r>
              <a:rPr lang="en-IN" sz="1600" b="1" dirty="0"/>
              <a:t>Linear Regression, Decision Tree, Random Forest, and Gradient Boosting</a:t>
            </a:r>
            <a:r>
              <a:rPr lang="en-IN" sz="1600" dirty="0"/>
              <a:t> are implemented as baseline models. Their predictions are then combined through a </a:t>
            </a:r>
            <a:r>
              <a:rPr lang="en-IN" sz="1600" b="1" dirty="0"/>
              <a:t>meta-learner</a:t>
            </a:r>
            <a:r>
              <a:rPr lang="en-IN" sz="1600" dirty="0"/>
              <a:t> to form the proposed HSRE model. Model performance is evaluated using </a:t>
            </a:r>
            <a:r>
              <a:rPr lang="en-IN" sz="1600" b="1" dirty="0"/>
              <a:t>R², MAE, RMSE, MSE, and other suitable regression metrics</a:t>
            </a:r>
            <a:r>
              <a:rPr lang="en-IN" sz="1600" dirty="0"/>
              <a:t>. The results are presented through comparative charts and an interactive dashboard.</a:t>
            </a:r>
          </a:p>
        </p:txBody>
      </p:sp>
      <p:pic>
        <p:nvPicPr>
          <p:cNvPr id="21506" name="Picture 2" descr="Koneru Lakshmaiah Education Foundation, Bachupally Campus Courses ..."/>
          <p:cNvPicPr>
            <a:picLocks noChangeAspect="1" noChangeArrowheads="1"/>
          </p:cNvPicPr>
          <p:nvPr/>
        </p:nvPicPr>
        <p:blipFill>
          <a:blip r:embed="rId5"/>
          <a:srcRect t="16961" b="27101"/>
          <a:stretch>
            <a:fillRect/>
          </a:stretch>
        </p:blipFill>
        <p:spPr bwMode="auto">
          <a:xfrm>
            <a:off x="0" y="0"/>
            <a:ext cx="2095500" cy="1145540"/>
          </a:xfrm>
          <a:prstGeom prst="rect">
            <a:avLst/>
          </a:prstGeom>
          <a:noFill/>
        </p:spPr>
      </p:pic>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1943735" y="631825"/>
            <a:ext cx="9114155" cy="705485"/>
          </a:xfrm>
        </p:spPr>
        <p:txBody>
          <a:bodyPr>
            <a:normAutofit fontScale="90000"/>
          </a:bodyPr>
          <a:lstStyle/>
          <a:p>
            <a:pPr algn="ctr"/>
            <a:r>
              <a:rPr lang="en-US" altLang="en-US" sz="3555" b="1">
                <a:latin typeface="Times New Roman" panose="02020603050405020304" pitchFamily="18" charset="0"/>
                <a:cs typeface="Times New Roman" panose="02020603050405020304" pitchFamily="18" charset="0"/>
              </a:rPr>
              <a:t>Experiments Using the Prescribed Datasets</a:t>
            </a:r>
          </a:p>
        </p:txBody>
      </p:sp>
      <p:sp>
        <p:nvSpPr>
          <p:cNvPr id="3" name="Content Placeholder 2"/>
          <p:cNvSpPr>
            <a:spLocks noGrp="1"/>
          </p:cNvSpPr>
          <p:nvPr>
            <p:ph idx="1"/>
            <p:custDataLst>
              <p:tags r:id="rId3"/>
            </p:custDataLst>
          </p:nvPr>
        </p:nvSpPr>
        <p:spPr>
          <a:xfrm>
            <a:off x="670560" y="2072005"/>
            <a:ext cx="10968990" cy="4024630"/>
          </a:xfrm>
        </p:spPr>
        <p:txBody>
          <a:bodyPr>
            <a:noAutofit/>
          </a:bodyPr>
          <a:lstStyle/>
          <a:p>
            <a:r>
              <a:rPr lang="en-IN" sz="1600" dirty="0"/>
              <a:t>Experiments are conducted using four sales datasets: </a:t>
            </a:r>
            <a:r>
              <a:rPr lang="en-IN" sz="1600" b="1" dirty="0"/>
              <a:t>Superstore, Global Superstore, Online Sales, and Supermarket Sales</a:t>
            </a:r>
            <a:r>
              <a:rPr lang="en-IN" sz="1600" dirty="0"/>
              <a:t>. The datasets are first validated and </a:t>
            </a:r>
            <a:r>
              <a:rPr lang="en-IN" sz="1600" dirty="0" err="1"/>
              <a:t>preprocessed</a:t>
            </a:r>
            <a:r>
              <a:rPr lang="en-IN" sz="1600" dirty="0"/>
              <a:t> by handling missing values, duplicates, inconsistent formats, and dataset-specific attributes.</a:t>
            </a:r>
          </a:p>
          <a:p>
            <a:r>
              <a:rPr lang="en-IN" sz="1600" dirty="0"/>
              <a:t>EDA is performed to </a:t>
            </a:r>
            <a:r>
              <a:rPr lang="en-IN" sz="1600" dirty="0" err="1"/>
              <a:t>analyze</a:t>
            </a:r>
            <a:r>
              <a:rPr lang="en-IN" sz="1600" dirty="0"/>
              <a:t> sales trends, category performance, regional performance, customer segments, product rankings, profitability, and discount-profit relationships. Relevant features are then prepared for machine-learning experiments.</a:t>
            </a:r>
          </a:p>
          <a:p>
            <a:r>
              <a:rPr lang="en-IN" sz="1600" b="1" dirty="0"/>
              <a:t>Linear Regression, Decision Tree, Random Forest, and Gradient Boosting</a:t>
            </a:r>
            <a:r>
              <a:rPr lang="en-IN" sz="1600" dirty="0"/>
              <a:t> are trained and compared with the proposed </a:t>
            </a:r>
            <a:r>
              <a:rPr lang="en-IN" sz="1600" b="1" dirty="0"/>
              <a:t>Hybrid Stacked Regression Ensemble (HSRE)</a:t>
            </a:r>
            <a:r>
              <a:rPr lang="en-IN" sz="1600" dirty="0"/>
              <a:t> for sales prediction. Model performance is evaluated using appropriate regression metrics. Finally, the results are integrated with the interactive dashboard for </a:t>
            </a:r>
            <a:r>
              <a:rPr lang="en-IN" sz="1600" b="1" dirty="0"/>
              <a:t>data storytelling and decision analytics</a:t>
            </a:r>
            <a:r>
              <a:rPr lang="en-IN" sz="1600" dirty="0"/>
              <a:t>.</a:t>
            </a:r>
          </a:p>
        </p:txBody>
      </p:sp>
      <p:pic>
        <p:nvPicPr>
          <p:cNvPr id="21506" name="Picture 2" descr="Koneru Lakshmaiah Education Foundation, Bachupally Campus Courses ..."/>
          <p:cNvPicPr>
            <a:picLocks noChangeAspect="1" noChangeArrowheads="1"/>
          </p:cNvPicPr>
          <p:nvPr/>
        </p:nvPicPr>
        <p:blipFill>
          <a:blip r:embed="rId5"/>
          <a:srcRect t="16961" b="27101"/>
          <a:stretch>
            <a:fillRect/>
          </a:stretch>
        </p:blipFill>
        <p:spPr bwMode="auto">
          <a:xfrm>
            <a:off x="0" y="0"/>
            <a:ext cx="2095500" cy="1145540"/>
          </a:xfrm>
          <a:prstGeom prst="rect">
            <a:avLst/>
          </a:prstGeom>
          <a:noFill/>
        </p:spPr>
      </p:pic>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2487295" y="378460"/>
            <a:ext cx="7752080" cy="705485"/>
          </a:xfrm>
        </p:spPr>
        <p:txBody>
          <a:bodyPr/>
          <a:lstStyle/>
          <a:p>
            <a:pPr algn="ctr"/>
            <a:r>
              <a:rPr lang="en-US" altLang="en-US" b="1">
                <a:latin typeface="Times New Roman" panose="02020603050405020304" pitchFamily="18" charset="0"/>
                <a:cs typeface="Times New Roman" panose="02020603050405020304" pitchFamily="18" charset="0"/>
              </a:rPr>
              <a:t>Training and testing results</a:t>
            </a:r>
          </a:p>
        </p:txBody>
      </p:sp>
      <p:pic>
        <p:nvPicPr>
          <p:cNvPr id="21506" name="Picture 2" descr="Koneru Lakshmaiah Education Foundation, Bachupally Campus Courses ..."/>
          <p:cNvPicPr>
            <a:picLocks noChangeAspect="1" noChangeArrowheads="1"/>
          </p:cNvPicPr>
          <p:nvPr/>
        </p:nvPicPr>
        <p:blipFill>
          <a:blip r:embed="rId4"/>
          <a:srcRect t="16961" b="27101"/>
          <a:stretch>
            <a:fillRect/>
          </a:stretch>
        </p:blipFill>
        <p:spPr bwMode="auto">
          <a:xfrm>
            <a:off x="0" y="0"/>
            <a:ext cx="2095500" cy="1145540"/>
          </a:xfrm>
          <a:prstGeom prst="rect">
            <a:avLst/>
          </a:prstGeom>
          <a:noFill/>
        </p:spPr>
      </p:pic>
      <p:graphicFrame>
        <p:nvGraphicFramePr>
          <p:cNvPr id="4" name="Table 3"/>
          <p:cNvGraphicFramePr/>
          <p:nvPr>
            <p:extLst>
              <p:ext uri="{D42A27DB-BD31-4B8C-83A1-F6EECF244321}">
                <p14:modId xmlns:p14="http://schemas.microsoft.com/office/powerpoint/2010/main" val="2711748316"/>
              </p:ext>
            </p:extLst>
          </p:nvPr>
        </p:nvGraphicFramePr>
        <p:xfrm>
          <a:off x="853440" y="1419225"/>
          <a:ext cx="8737600" cy="4289425"/>
        </p:xfrm>
        <a:graphic>
          <a:graphicData uri="http://schemas.openxmlformats.org/drawingml/2006/table">
            <a:tbl>
              <a:tblPr/>
              <a:tblGrid>
                <a:gridCol w="1747520">
                  <a:extLst>
                    <a:ext uri="{9D8B030D-6E8A-4147-A177-3AD203B41FA5}">
                      <a16:colId xmlns:a16="http://schemas.microsoft.com/office/drawing/2014/main" val="20000"/>
                    </a:ext>
                  </a:extLst>
                </a:gridCol>
                <a:gridCol w="1747520">
                  <a:extLst>
                    <a:ext uri="{9D8B030D-6E8A-4147-A177-3AD203B41FA5}">
                      <a16:colId xmlns:a16="http://schemas.microsoft.com/office/drawing/2014/main" val="20001"/>
                    </a:ext>
                  </a:extLst>
                </a:gridCol>
                <a:gridCol w="1747520">
                  <a:extLst>
                    <a:ext uri="{9D8B030D-6E8A-4147-A177-3AD203B41FA5}">
                      <a16:colId xmlns:a16="http://schemas.microsoft.com/office/drawing/2014/main" val="20002"/>
                    </a:ext>
                  </a:extLst>
                </a:gridCol>
                <a:gridCol w="1747520">
                  <a:extLst>
                    <a:ext uri="{9D8B030D-6E8A-4147-A177-3AD203B41FA5}">
                      <a16:colId xmlns:a16="http://schemas.microsoft.com/office/drawing/2014/main" val="20003"/>
                    </a:ext>
                  </a:extLst>
                </a:gridCol>
                <a:gridCol w="1747520">
                  <a:extLst>
                    <a:ext uri="{9D8B030D-6E8A-4147-A177-3AD203B41FA5}">
                      <a16:colId xmlns:a16="http://schemas.microsoft.com/office/drawing/2014/main" val="20004"/>
                    </a:ext>
                  </a:extLst>
                </a:gridCol>
              </a:tblGrid>
              <a:tr h="857885">
                <a:tc>
                  <a:txBody>
                    <a:bodyPr/>
                    <a:lstStyle/>
                    <a:p>
                      <a:pPr>
                        <a:buNone/>
                      </a:pPr>
                      <a:r>
                        <a:rPr lang="en-IN"/>
                        <a:t>Model</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lstStyle/>
                    <a:p>
                      <a:pPr>
                        <a:buNone/>
                      </a:pPr>
                      <a:r>
                        <a:rPr lang="en-IN"/>
                        <a:t>R² Score</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lstStyle/>
                    <a:p>
                      <a:pPr>
                        <a:buNone/>
                      </a:pPr>
                      <a:r>
                        <a:rPr lang="en-IN"/>
                        <a:t>MAE</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lstStyle/>
                    <a:p>
                      <a:pPr>
                        <a:buNone/>
                      </a:pPr>
                      <a:r>
                        <a:rPr lang="en-IN"/>
                        <a:t>RMSE</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lstStyle/>
                    <a:p>
                      <a:pPr>
                        <a:buNone/>
                      </a:pPr>
                      <a:r>
                        <a:rPr lang="en-IN"/>
                        <a:t>MSE</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extLst>
                  <a:ext uri="{0D108BD9-81ED-4DB2-BD59-A6C34878D82A}">
                    <a16:rowId xmlns:a16="http://schemas.microsoft.com/office/drawing/2014/main" val="10000"/>
                  </a:ext>
                </a:extLst>
              </a:tr>
              <a:tr h="857885">
                <a:tc>
                  <a:txBody>
                    <a:bodyPr/>
                    <a:lstStyle/>
                    <a:p>
                      <a:pPr>
                        <a:buNone/>
                      </a:pPr>
                      <a:r>
                        <a:rPr lang="en-IN"/>
                        <a:t>Linear Regression</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lstStyle/>
                    <a:p>
                      <a:pPr>
                        <a:buNone/>
                      </a:pPr>
                      <a:r>
                        <a:rPr lang="en-IN"/>
                        <a:t>0.2970</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lstStyle/>
                    <a:p>
                      <a:pPr>
                        <a:buNone/>
                      </a:pPr>
                      <a:r>
                        <a:rPr lang="en-IN"/>
                        <a:t>268.06</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lstStyle/>
                    <a:p>
                      <a:pPr>
                        <a:buNone/>
                      </a:pPr>
                      <a:r>
                        <a:rPr lang="en-IN"/>
                        <a:t>685.28</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lstStyle/>
                    <a:p>
                      <a:pPr>
                        <a:buNone/>
                      </a:pPr>
                      <a:r>
                        <a:rPr lang="en-IN"/>
                        <a:t>Actual</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extLst>
                  <a:ext uri="{0D108BD9-81ED-4DB2-BD59-A6C34878D82A}">
                    <a16:rowId xmlns:a16="http://schemas.microsoft.com/office/drawing/2014/main" val="10001"/>
                  </a:ext>
                </a:extLst>
              </a:tr>
              <a:tr h="857885">
                <a:tc>
                  <a:txBody>
                    <a:bodyPr/>
                    <a:lstStyle/>
                    <a:p>
                      <a:pPr>
                        <a:buNone/>
                      </a:pPr>
                      <a:r>
                        <a:rPr lang="en-IN"/>
                        <a:t>Decision Tree</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lstStyle/>
                    <a:p>
                      <a:pPr>
                        <a:buNone/>
                      </a:pPr>
                      <a:r>
                        <a:rPr lang="en-IN"/>
                        <a:t>0.1253</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lstStyle/>
                    <a:p>
                      <a:pPr>
                        <a:buNone/>
                      </a:pPr>
                      <a:r>
                        <a:rPr lang="en-IN"/>
                        <a:t>248.31</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lstStyle/>
                    <a:p>
                      <a:pPr>
                        <a:buNone/>
                      </a:pPr>
                      <a:r>
                        <a:rPr lang="en-IN"/>
                        <a:t>764.40</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lstStyle/>
                    <a:p>
                      <a:pPr>
                        <a:buNone/>
                      </a:pPr>
                      <a:r>
                        <a:rPr lang="en-IN"/>
                        <a:t>Actual</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extLst>
                  <a:ext uri="{0D108BD9-81ED-4DB2-BD59-A6C34878D82A}">
                    <a16:rowId xmlns:a16="http://schemas.microsoft.com/office/drawing/2014/main" val="10002"/>
                  </a:ext>
                </a:extLst>
              </a:tr>
              <a:tr h="857885">
                <a:tc>
                  <a:txBody>
                    <a:bodyPr/>
                    <a:lstStyle/>
                    <a:p>
                      <a:pPr>
                        <a:buNone/>
                      </a:pPr>
                      <a:r>
                        <a:rPr lang="en-IN"/>
                        <a:t>Random Forest</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lstStyle/>
                    <a:p>
                      <a:pPr>
                        <a:buNone/>
                      </a:pPr>
                      <a:r>
                        <a:rPr lang="en-IN"/>
                        <a:t>0.2586</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lstStyle/>
                    <a:p>
                      <a:pPr>
                        <a:buNone/>
                      </a:pPr>
                      <a:r>
                        <a:rPr lang="en-IN"/>
                        <a:t>238.82</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lstStyle/>
                    <a:p>
                      <a:pPr>
                        <a:buNone/>
                      </a:pPr>
                      <a:r>
                        <a:rPr lang="en-IN"/>
                        <a:t>703.77</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lstStyle/>
                    <a:p>
                      <a:pPr>
                        <a:buNone/>
                      </a:pPr>
                      <a:r>
                        <a:rPr lang="en-IN"/>
                        <a:t>Actual</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extLst>
                  <a:ext uri="{0D108BD9-81ED-4DB2-BD59-A6C34878D82A}">
                    <a16:rowId xmlns:a16="http://schemas.microsoft.com/office/drawing/2014/main" val="10003"/>
                  </a:ext>
                </a:extLst>
              </a:tr>
              <a:tr h="857885">
                <a:tc>
                  <a:txBody>
                    <a:bodyPr/>
                    <a:lstStyle/>
                    <a:p>
                      <a:pPr>
                        <a:buNone/>
                      </a:pPr>
                      <a:r>
                        <a:rPr lang="en-IN"/>
                        <a:t>Gradient Boosting</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lstStyle/>
                    <a:p>
                      <a:pPr>
                        <a:buNone/>
                      </a:pPr>
                      <a:r>
                        <a:rPr lang="en-IN"/>
                        <a:t>0.1162</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lstStyle/>
                    <a:p>
                      <a:pPr>
                        <a:buNone/>
                      </a:pPr>
                      <a:r>
                        <a:rPr lang="en-IN"/>
                        <a:t>260.67</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lstStyle/>
                    <a:p>
                      <a:pPr>
                        <a:buNone/>
                      </a:pPr>
                      <a:r>
                        <a:rPr lang="en-IN"/>
                        <a:t>768.36</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tc>
                  <a:txBody>
                    <a:bodyPr/>
                    <a:lstStyle/>
                    <a:p>
                      <a:pPr>
                        <a:buNone/>
                      </a:pPr>
                      <a:r>
                        <a:rPr lang="en-IN" dirty="0"/>
                        <a:t>Actual</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bg1"/>
                    </a:solidFill>
                  </a:tcPr>
                </a:tc>
                <a:extLst>
                  <a:ext uri="{0D108BD9-81ED-4DB2-BD59-A6C34878D82A}">
                    <a16:rowId xmlns:a16="http://schemas.microsoft.com/office/drawing/2014/main" val="10004"/>
                  </a:ext>
                </a:extLst>
              </a:tr>
            </a:tbl>
          </a:graphicData>
        </a:graphic>
      </p:graphicFrame>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2303780" y="340360"/>
            <a:ext cx="8488680" cy="805815"/>
          </a:xfrm>
        </p:spPr>
        <p:txBody>
          <a:bodyPr>
            <a:normAutofit fontScale="90000"/>
          </a:bodyPr>
          <a:lstStyle/>
          <a:p>
            <a:pPr algn="ctr"/>
            <a:r>
              <a:rPr lang="en-US" altLang="en-US" b="1" dirty="0">
                <a:latin typeface="Times New Roman" panose="02020603050405020304" pitchFamily="18" charset="0"/>
                <a:cs typeface="Times New Roman" panose="02020603050405020304" pitchFamily="18" charset="0"/>
              </a:rPr>
              <a:t>Comparison with relevant existing models from the literature</a:t>
            </a:r>
          </a:p>
        </p:txBody>
      </p:sp>
      <p:pic>
        <p:nvPicPr>
          <p:cNvPr id="21506" name="Picture 2" descr="Koneru Lakshmaiah Education Foundation, Bachupally Campus Courses ..."/>
          <p:cNvPicPr>
            <a:picLocks noChangeAspect="1" noChangeArrowheads="1"/>
          </p:cNvPicPr>
          <p:nvPr/>
        </p:nvPicPr>
        <p:blipFill>
          <a:blip r:embed="rId4"/>
          <a:srcRect t="16961" b="27101"/>
          <a:stretch>
            <a:fillRect/>
          </a:stretch>
        </p:blipFill>
        <p:spPr bwMode="auto">
          <a:xfrm>
            <a:off x="0" y="0"/>
            <a:ext cx="2095500" cy="1145540"/>
          </a:xfrm>
          <a:prstGeom prst="rect">
            <a:avLst/>
          </a:prstGeom>
          <a:noFill/>
        </p:spPr>
      </p:pic>
      <p:graphicFrame>
        <p:nvGraphicFramePr>
          <p:cNvPr id="4" name="Table 3"/>
          <p:cNvGraphicFramePr/>
          <p:nvPr>
            <p:extLst>
              <p:ext uri="{D42A27DB-BD31-4B8C-83A1-F6EECF244321}">
                <p14:modId xmlns:p14="http://schemas.microsoft.com/office/powerpoint/2010/main" val="3428904893"/>
              </p:ext>
            </p:extLst>
          </p:nvPr>
        </p:nvGraphicFramePr>
        <p:xfrm>
          <a:off x="853440" y="1640205"/>
          <a:ext cx="10485120" cy="4878705"/>
        </p:xfrm>
        <a:graphic>
          <a:graphicData uri="http://schemas.openxmlformats.org/drawingml/2006/table">
            <a:tbl>
              <a:tblPr/>
              <a:tblGrid>
                <a:gridCol w="2621280">
                  <a:extLst>
                    <a:ext uri="{9D8B030D-6E8A-4147-A177-3AD203B41FA5}">
                      <a16:colId xmlns:a16="http://schemas.microsoft.com/office/drawing/2014/main" val="20000"/>
                    </a:ext>
                  </a:extLst>
                </a:gridCol>
                <a:gridCol w="2621280">
                  <a:extLst>
                    <a:ext uri="{9D8B030D-6E8A-4147-A177-3AD203B41FA5}">
                      <a16:colId xmlns:a16="http://schemas.microsoft.com/office/drawing/2014/main" val="20001"/>
                    </a:ext>
                  </a:extLst>
                </a:gridCol>
                <a:gridCol w="2621280">
                  <a:extLst>
                    <a:ext uri="{9D8B030D-6E8A-4147-A177-3AD203B41FA5}">
                      <a16:colId xmlns:a16="http://schemas.microsoft.com/office/drawing/2014/main" val="20002"/>
                    </a:ext>
                  </a:extLst>
                </a:gridCol>
                <a:gridCol w="2621280">
                  <a:extLst>
                    <a:ext uri="{9D8B030D-6E8A-4147-A177-3AD203B41FA5}">
                      <a16:colId xmlns:a16="http://schemas.microsoft.com/office/drawing/2014/main" val="20003"/>
                    </a:ext>
                  </a:extLst>
                </a:gridCol>
              </a:tblGrid>
              <a:tr h="335915">
                <a:tc>
                  <a:txBody>
                    <a:bodyPr/>
                    <a:lstStyle/>
                    <a:p>
                      <a:pPr>
                        <a:buNone/>
                      </a:pPr>
                      <a:r>
                        <a:rPr lang="en-IN"/>
                        <a:t>Model</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buNone/>
                      </a:pPr>
                      <a:r>
                        <a:rPr lang="en-IN"/>
                        <a:t>Role in Our Project</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buNone/>
                      </a:pPr>
                      <a:r>
                        <a:rPr lang="en-IN"/>
                        <a:t>Strength</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buNone/>
                      </a:pPr>
                      <a:r>
                        <a:rPr lang="en-IN"/>
                        <a:t>Model</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0"/>
                  </a:ext>
                </a:extLst>
              </a:tr>
              <a:tr h="670560">
                <a:tc>
                  <a:txBody>
                    <a:bodyPr/>
                    <a:lstStyle/>
                    <a:p>
                      <a:pPr>
                        <a:buNone/>
                      </a:pPr>
                      <a:r>
                        <a:rPr lang="en-IN"/>
                        <a:t>Linear Regression</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buNone/>
                      </a:pPr>
                      <a:r>
                        <a:rPr lang="en-IN"/>
                        <a:t>Baseline Model</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buNone/>
                      </a:pPr>
                      <a:r>
                        <a:rPr lang="en-IN" dirty="0"/>
                        <a:t>Simple and interpretable linear relationships</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buNone/>
                      </a:pPr>
                      <a:r>
                        <a:rPr lang="en-IN"/>
                        <a:t>Linear Regression</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1"/>
                  </a:ext>
                </a:extLst>
              </a:tr>
              <a:tr h="671195">
                <a:tc>
                  <a:txBody>
                    <a:bodyPr/>
                    <a:lstStyle/>
                    <a:p>
                      <a:pPr>
                        <a:buNone/>
                      </a:pPr>
                      <a:r>
                        <a:rPr lang="en-IN"/>
                        <a:t>Decision Tree</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buNone/>
                      </a:pPr>
                      <a:r>
                        <a:rPr lang="en-IN"/>
                        <a:t>Baseline Model</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buNone/>
                      </a:pPr>
                      <a:r>
                        <a:rPr lang="en-IN"/>
                        <a:t>Captures non-linear relationships</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buNone/>
                      </a:pPr>
                      <a:r>
                        <a:rPr lang="en-IN"/>
                        <a:t>Decision Tree</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2"/>
                  </a:ext>
                </a:extLst>
              </a:tr>
              <a:tr h="671830">
                <a:tc>
                  <a:txBody>
                    <a:bodyPr/>
                    <a:lstStyle/>
                    <a:p>
                      <a:pPr>
                        <a:buNone/>
                      </a:pPr>
                      <a:r>
                        <a:rPr lang="en-IN"/>
                        <a:t>Random Forest</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buNone/>
                      </a:pPr>
                      <a:r>
                        <a:rPr lang="en-IN"/>
                        <a:t>Baseline Model</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buNone/>
                      </a:pPr>
                      <a:r>
                        <a:rPr lang="en-IN"/>
                        <a:t>Robust ensemble and reduces overfitting</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buNone/>
                      </a:pPr>
                      <a:r>
                        <a:rPr lang="en-IN"/>
                        <a:t>Random Forest</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3"/>
                  </a:ext>
                </a:extLst>
              </a:tr>
              <a:tr h="670560">
                <a:tc>
                  <a:txBody>
                    <a:bodyPr/>
                    <a:lstStyle/>
                    <a:p>
                      <a:pPr>
                        <a:buNone/>
                      </a:pPr>
                      <a:r>
                        <a:rPr lang="en-IN"/>
                        <a:t>Gradient Boosting</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buNone/>
                      </a:pPr>
                      <a:r>
                        <a:rPr lang="en-IN"/>
                        <a:t>Baseline Model</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buNone/>
                      </a:pPr>
                      <a:r>
                        <a:rPr lang="en-IN"/>
                        <a:t>Builds strong predictions sequentially</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buNone/>
                      </a:pPr>
                      <a:r>
                        <a:rPr lang="en-IN"/>
                        <a:t>Gradient Boosting</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4"/>
                  </a:ext>
                </a:extLst>
              </a:tr>
              <a:tr h="672465">
                <a:tc>
                  <a:txBody>
                    <a:bodyPr/>
                    <a:lstStyle/>
                    <a:p>
                      <a:pPr>
                        <a:buNone/>
                      </a:pPr>
                      <a:r>
                        <a:rPr lang="en-IN" b="1"/>
                        <a:t>HSRE</a:t>
                      </a:r>
                      <a:endParaRPr lang="en-IN"/>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buNone/>
                      </a:pPr>
                      <a:r>
                        <a:rPr lang="en-IN" b="1"/>
                        <a:t>Proposed Hybrid Model</a:t>
                      </a:r>
                      <a:endParaRPr lang="en-IN"/>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buNone/>
                      </a:pPr>
                      <a:r>
                        <a:rPr lang="en-IN"/>
                        <a:t>Combines multiple model predictions through stacking</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buNone/>
                      </a:pPr>
                      <a:r>
                        <a:rPr lang="en-IN" b="1"/>
                        <a:t>HSRE</a:t>
                      </a:r>
                      <a:endParaRPr lang="en-IN"/>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5"/>
                  </a:ext>
                </a:extLst>
              </a:tr>
              <a:tr h="670560">
                <a:tc>
                  <a:txBody>
                    <a:bodyPr/>
                    <a:lstStyle/>
                    <a:p>
                      <a:pPr>
                        <a:buNone/>
                      </a:pPr>
                      <a:r>
                        <a:rPr lang="en-IN"/>
                        <a:t>Model</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buNone/>
                      </a:pPr>
                      <a:r>
                        <a:rPr lang="en-IN"/>
                        <a:t>Role in Our Project</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buNone/>
                      </a:pPr>
                      <a:r>
                        <a:rPr lang="en-IN"/>
                        <a:t>Strength</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buNone/>
                      </a:pPr>
                      <a:r>
                        <a:rPr lang="en-IN" dirty="0"/>
                        <a:t>Model</a:t>
                      </a:r>
                    </a:p>
                  </a:txBody>
                  <a:tcPr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6"/>
                  </a:ext>
                </a:extLst>
              </a:tr>
            </a:tbl>
          </a:graphicData>
        </a:graphic>
      </p:graphicFrame>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2148840" y="440055"/>
            <a:ext cx="9481820" cy="705485"/>
          </a:xfrm>
        </p:spPr>
        <p:txBody>
          <a:bodyPr>
            <a:normAutofit fontScale="90000"/>
          </a:bodyPr>
          <a:lstStyle/>
          <a:p>
            <a:pPr algn="ctr"/>
            <a:r>
              <a:rPr lang="en-US" altLang="en-US" b="1">
                <a:latin typeface="Times New Roman" panose="02020603050405020304" pitchFamily="18" charset="0"/>
                <a:cs typeface="Times New Roman" panose="02020603050405020304" pitchFamily="18" charset="0"/>
              </a:rPr>
              <a:t>Performance metrics and comparative results</a:t>
            </a:r>
          </a:p>
        </p:txBody>
      </p:sp>
      <p:pic>
        <p:nvPicPr>
          <p:cNvPr id="21506" name="Picture 2" descr="Koneru Lakshmaiah Education Foundation, Bachupally Campus Courses ..."/>
          <p:cNvPicPr>
            <a:picLocks noChangeAspect="1" noChangeArrowheads="1"/>
          </p:cNvPicPr>
          <p:nvPr/>
        </p:nvPicPr>
        <p:blipFill>
          <a:blip r:embed="rId4"/>
          <a:srcRect t="16961" b="27101"/>
          <a:stretch>
            <a:fillRect/>
          </a:stretch>
        </p:blipFill>
        <p:spPr bwMode="auto">
          <a:xfrm>
            <a:off x="0" y="0"/>
            <a:ext cx="2095500" cy="1145540"/>
          </a:xfrm>
          <a:prstGeom prst="rect">
            <a:avLst/>
          </a:prstGeom>
          <a:noFill/>
        </p:spPr>
      </p:pic>
      <p:graphicFrame>
        <p:nvGraphicFramePr>
          <p:cNvPr id="3" name="Table 2">
            <a:extLst>
              <a:ext uri="{FF2B5EF4-FFF2-40B4-BE49-F238E27FC236}">
                <a16:creationId xmlns:a16="http://schemas.microsoft.com/office/drawing/2014/main" id="{2BF6CC18-467D-7AEC-E700-DE5D310BA9A4}"/>
              </a:ext>
            </a:extLst>
          </p:cNvPr>
          <p:cNvGraphicFramePr>
            <a:graphicFrameLocks noGrp="1"/>
          </p:cNvGraphicFramePr>
          <p:nvPr>
            <p:extLst>
              <p:ext uri="{D42A27DB-BD31-4B8C-83A1-F6EECF244321}">
                <p14:modId xmlns:p14="http://schemas.microsoft.com/office/powerpoint/2010/main" val="1982263389"/>
              </p:ext>
            </p:extLst>
          </p:nvPr>
        </p:nvGraphicFramePr>
        <p:xfrm>
          <a:off x="696907" y="2020465"/>
          <a:ext cx="11128068" cy="3159618"/>
        </p:xfrm>
        <a:graphic>
          <a:graphicData uri="http://schemas.openxmlformats.org/drawingml/2006/table">
            <a:tbl>
              <a:tblPr>
                <a:tableStyleId>{5C22544A-7EE6-4342-B048-85BDC9FD1C3A}</a:tableStyleId>
              </a:tblPr>
              <a:tblGrid>
                <a:gridCol w="2782017">
                  <a:extLst>
                    <a:ext uri="{9D8B030D-6E8A-4147-A177-3AD203B41FA5}">
                      <a16:colId xmlns:a16="http://schemas.microsoft.com/office/drawing/2014/main" val="637545674"/>
                    </a:ext>
                  </a:extLst>
                </a:gridCol>
                <a:gridCol w="2782017">
                  <a:extLst>
                    <a:ext uri="{9D8B030D-6E8A-4147-A177-3AD203B41FA5}">
                      <a16:colId xmlns:a16="http://schemas.microsoft.com/office/drawing/2014/main" val="3237261517"/>
                    </a:ext>
                  </a:extLst>
                </a:gridCol>
                <a:gridCol w="2782017">
                  <a:extLst>
                    <a:ext uri="{9D8B030D-6E8A-4147-A177-3AD203B41FA5}">
                      <a16:colId xmlns:a16="http://schemas.microsoft.com/office/drawing/2014/main" val="3119578257"/>
                    </a:ext>
                  </a:extLst>
                </a:gridCol>
                <a:gridCol w="2782017">
                  <a:extLst>
                    <a:ext uri="{9D8B030D-6E8A-4147-A177-3AD203B41FA5}">
                      <a16:colId xmlns:a16="http://schemas.microsoft.com/office/drawing/2014/main" val="4145575980"/>
                    </a:ext>
                  </a:extLst>
                </a:gridCol>
              </a:tblGrid>
              <a:tr h="526603">
                <a:tc>
                  <a:txBody>
                    <a:bodyPr/>
                    <a:lstStyle/>
                    <a:p>
                      <a:pPr>
                        <a:buNone/>
                      </a:pPr>
                      <a:r>
                        <a:rPr lang="en-IN"/>
                        <a:t>Model</a:t>
                      </a:r>
                    </a:p>
                  </a:txBody>
                  <a:tcPr anchor="ctr"/>
                </a:tc>
                <a:tc>
                  <a:txBody>
                    <a:bodyPr/>
                    <a:lstStyle/>
                    <a:p>
                      <a:pPr>
                        <a:buNone/>
                      </a:pPr>
                      <a:r>
                        <a:rPr lang="en-IN"/>
                        <a:t>R²</a:t>
                      </a:r>
                    </a:p>
                  </a:txBody>
                  <a:tcPr anchor="ctr"/>
                </a:tc>
                <a:tc>
                  <a:txBody>
                    <a:bodyPr/>
                    <a:lstStyle/>
                    <a:p>
                      <a:pPr>
                        <a:buNone/>
                      </a:pPr>
                      <a:r>
                        <a:rPr lang="en-IN"/>
                        <a:t>MAE</a:t>
                      </a:r>
                    </a:p>
                  </a:txBody>
                  <a:tcPr anchor="ctr"/>
                </a:tc>
                <a:tc>
                  <a:txBody>
                    <a:bodyPr/>
                    <a:lstStyle/>
                    <a:p>
                      <a:pPr>
                        <a:buNone/>
                      </a:pPr>
                      <a:r>
                        <a:rPr lang="en-IN"/>
                        <a:t>RMSE</a:t>
                      </a:r>
                    </a:p>
                  </a:txBody>
                  <a:tcPr anchor="ctr"/>
                </a:tc>
                <a:extLst>
                  <a:ext uri="{0D108BD9-81ED-4DB2-BD59-A6C34878D82A}">
                    <a16:rowId xmlns:a16="http://schemas.microsoft.com/office/drawing/2014/main" val="1865486802"/>
                  </a:ext>
                </a:extLst>
              </a:tr>
              <a:tr h="526603">
                <a:tc>
                  <a:txBody>
                    <a:bodyPr/>
                    <a:lstStyle/>
                    <a:p>
                      <a:pPr>
                        <a:buNone/>
                      </a:pPr>
                      <a:r>
                        <a:rPr lang="en-IN"/>
                        <a:t>Linear Regression</a:t>
                      </a:r>
                    </a:p>
                  </a:txBody>
                  <a:tcPr anchor="ctr"/>
                </a:tc>
                <a:tc>
                  <a:txBody>
                    <a:bodyPr/>
                    <a:lstStyle/>
                    <a:p>
                      <a:pPr>
                        <a:buNone/>
                      </a:pPr>
                      <a:r>
                        <a:rPr lang="en-IN"/>
                        <a:t>0.2970</a:t>
                      </a:r>
                    </a:p>
                  </a:txBody>
                  <a:tcPr anchor="ctr"/>
                </a:tc>
                <a:tc>
                  <a:txBody>
                    <a:bodyPr/>
                    <a:lstStyle/>
                    <a:p>
                      <a:pPr>
                        <a:buNone/>
                      </a:pPr>
                      <a:r>
                        <a:rPr lang="en-IN"/>
                        <a:t>268.06</a:t>
                      </a:r>
                    </a:p>
                  </a:txBody>
                  <a:tcPr anchor="ctr"/>
                </a:tc>
                <a:tc>
                  <a:txBody>
                    <a:bodyPr/>
                    <a:lstStyle/>
                    <a:p>
                      <a:pPr>
                        <a:buNone/>
                      </a:pPr>
                      <a:r>
                        <a:rPr lang="en-IN"/>
                        <a:t>685.28</a:t>
                      </a:r>
                    </a:p>
                  </a:txBody>
                  <a:tcPr anchor="ctr"/>
                </a:tc>
                <a:extLst>
                  <a:ext uri="{0D108BD9-81ED-4DB2-BD59-A6C34878D82A}">
                    <a16:rowId xmlns:a16="http://schemas.microsoft.com/office/drawing/2014/main" val="4192694512"/>
                  </a:ext>
                </a:extLst>
              </a:tr>
              <a:tr h="526603">
                <a:tc>
                  <a:txBody>
                    <a:bodyPr/>
                    <a:lstStyle/>
                    <a:p>
                      <a:pPr>
                        <a:buNone/>
                      </a:pPr>
                      <a:r>
                        <a:rPr lang="en-IN"/>
                        <a:t>Decision Tree</a:t>
                      </a:r>
                    </a:p>
                  </a:txBody>
                  <a:tcPr anchor="ctr"/>
                </a:tc>
                <a:tc>
                  <a:txBody>
                    <a:bodyPr/>
                    <a:lstStyle/>
                    <a:p>
                      <a:pPr>
                        <a:buNone/>
                      </a:pPr>
                      <a:r>
                        <a:rPr lang="en-IN"/>
                        <a:t>0.1253</a:t>
                      </a:r>
                    </a:p>
                  </a:txBody>
                  <a:tcPr anchor="ctr"/>
                </a:tc>
                <a:tc>
                  <a:txBody>
                    <a:bodyPr/>
                    <a:lstStyle/>
                    <a:p>
                      <a:pPr>
                        <a:buNone/>
                      </a:pPr>
                      <a:r>
                        <a:rPr lang="en-IN"/>
                        <a:t>248.31</a:t>
                      </a:r>
                    </a:p>
                  </a:txBody>
                  <a:tcPr anchor="ctr"/>
                </a:tc>
                <a:tc>
                  <a:txBody>
                    <a:bodyPr/>
                    <a:lstStyle/>
                    <a:p>
                      <a:pPr>
                        <a:buNone/>
                      </a:pPr>
                      <a:r>
                        <a:rPr lang="en-IN"/>
                        <a:t>764.40</a:t>
                      </a:r>
                    </a:p>
                  </a:txBody>
                  <a:tcPr anchor="ctr"/>
                </a:tc>
                <a:extLst>
                  <a:ext uri="{0D108BD9-81ED-4DB2-BD59-A6C34878D82A}">
                    <a16:rowId xmlns:a16="http://schemas.microsoft.com/office/drawing/2014/main" val="3480718483"/>
                  </a:ext>
                </a:extLst>
              </a:tr>
              <a:tr h="526603">
                <a:tc>
                  <a:txBody>
                    <a:bodyPr/>
                    <a:lstStyle/>
                    <a:p>
                      <a:pPr>
                        <a:buNone/>
                      </a:pPr>
                      <a:r>
                        <a:rPr lang="en-IN"/>
                        <a:t>Random Forest</a:t>
                      </a:r>
                    </a:p>
                  </a:txBody>
                  <a:tcPr anchor="ctr"/>
                </a:tc>
                <a:tc>
                  <a:txBody>
                    <a:bodyPr/>
                    <a:lstStyle/>
                    <a:p>
                      <a:pPr>
                        <a:buNone/>
                      </a:pPr>
                      <a:r>
                        <a:rPr lang="en-IN"/>
                        <a:t>0.2586</a:t>
                      </a:r>
                    </a:p>
                  </a:txBody>
                  <a:tcPr anchor="ctr"/>
                </a:tc>
                <a:tc>
                  <a:txBody>
                    <a:bodyPr/>
                    <a:lstStyle/>
                    <a:p>
                      <a:pPr>
                        <a:buNone/>
                      </a:pPr>
                      <a:r>
                        <a:rPr lang="en-IN"/>
                        <a:t>238.82</a:t>
                      </a:r>
                    </a:p>
                  </a:txBody>
                  <a:tcPr anchor="ctr"/>
                </a:tc>
                <a:tc>
                  <a:txBody>
                    <a:bodyPr/>
                    <a:lstStyle/>
                    <a:p>
                      <a:pPr>
                        <a:buNone/>
                      </a:pPr>
                      <a:r>
                        <a:rPr lang="en-IN"/>
                        <a:t>703.77</a:t>
                      </a:r>
                    </a:p>
                  </a:txBody>
                  <a:tcPr anchor="ctr"/>
                </a:tc>
                <a:extLst>
                  <a:ext uri="{0D108BD9-81ED-4DB2-BD59-A6C34878D82A}">
                    <a16:rowId xmlns:a16="http://schemas.microsoft.com/office/drawing/2014/main" val="2618071032"/>
                  </a:ext>
                </a:extLst>
              </a:tr>
              <a:tr h="526603">
                <a:tc>
                  <a:txBody>
                    <a:bodyPr/>
                    <a:lstStyle/>
                    <a:p>
                      <a:pPr>
                        <a:buNone/>
                      </a:pPr>
                      <a:r>
                        <a:rPr lang="en-IN"/>
                        <a:t>Gradient Boosting</a:t>
                      </a:r>
                    </a:p>
                  </a:txBody>
                  <a:tcPr anchor="ctr"/>
                </a:tc>
                <a:tc>
                  <a:txBody>
                    <a:bodyPr/>
                    <a:lstStyle/>
                    <a:p>
                      <a:pPr>
                        <a:buNone/>
                      </a:pPr>
                      <a:r>
                        <a:rPr lang="en-IN"/>
                        <a:t>0.1162</a:t>
                      </a:r>
                    </a:p>
                  </a:txBody>
                  <a:tcPr anchor="ctr"/>
                </a:tc>
                <a:tc>
                  <a:txBody>
                    <a:bodyPr/>
                    <a:lstStyle/>
                    <a:p>
                      <a:pPr>
                        <a:buNone/>
                      </a:pPr>
                      <a:r>
                        <a:rPr lang="en-IN"/>
                        <a:t>260.67</a:t>
                      </a:r>
                    </a:p>
                  </a:txBody>
                  <a:tcPr anchor="ctr"/>
                </a:tc>
                <a:tc>
                  <a:txBody>
                    <a:bodyPr/>
                    <a:lstStyle/>
                    <a:p>
                      <a:pPr>
                        <a:buNone/>
                      </a:pPr>
                      <a:r>
                        <a:rPr lang="en-IN"/>
                        <a:t>768.36</a:t>
                      </a:r>
                    </a:p>
                  </a:txBody>
                  <a:tcPr anchor="ctr"/>
                </a:tc>
                <a:extLst>
                  <a:ext uri="{0D108BD9-81ED-4DB2-BD59-A6C34878D82A}">
                    <a16:rowId xmlns:a16="http://schemas.microsoft.com/office/drawing/2014/main" val="734220043"/>
                  </a:ext>
                </a:extLst>
              </a:tr>
              <a:tr h="526603">
                <a:tc>
                  <a:txBody>
                    <a:bodyPr/>
                    <a:lstStyle/>
                    <a:p>
                      <a:pPr>
                        <a:buNone/>
                      </a:pPr>
                      <a:r>
                        <a:rPr lang="en-IN"/>
                        <a:t>HSRE</a:t>
                      </a:r>
                    </a:p>
                  </a:txBody>
                  <a:tcPr anchor="ctr"/>
                </a:tc>
                <a:tc>
                  <a:txBody>
                    <a:bodyPr/>
                    <a:lstStyle/>
                    <a:p>
                      <a:pPr>
                        <a:buNone/>
                      </a:pPr>
                      <a:r>
                        <a:rPr lang="en-IN"/>
                        <a:t>0.2307</a:t>
                      </a:r>
                    </a:p>
                  </a:txBody>
                  <a:tcPr anchor="ctr"/>
                </a:tc>
                <a:tc>
                  <a:txBody>
                    <a:bodyPr/>
                    <a:lstStyle/>
                    <a:p>
                      <a:pPr>
                        <a:buNone/>
                      </a:pPr>
                      <a:r>
                        <a:rPr lang="en-IN"/>
                        <a:t>254.76</a:t>
                      </a:r>
                    </a:p>
                  </a:txBody>
                  <a:tcPr anchor="ctr"/>
                </a:tc>
                <a:tc>
                  <a:txBody>
                    <a:bodyPr/>
                    <a:lstStyle/>
                    <a:p>
                      <a:pPr>
                        <a:buNone/>
                      </a:pPr>
                      <a:r>
                        <a:rPr lang="en-IN" dirty="0"/>
                        <a:t>716.85</a:t>
                      </a:r>
                    </a:p>
                  </a:txBody>
                  <a:tcPr anchor="ctr"/>
                </a:tc>
                <a:extLst>
                  <a:ext uri="{0D108BD9-81ED-4DB2-BD59-A6C34878D82A}">
                    <a16:rowId xmlns:a16="http://schemas.microsoft.com/office/drawing/2014/main" val="3381304394"/>
                  </a:ext>
                </a:extLst>
              </a:tr>
            </a:tbl>
          </a:graphicData>
        </a:graphic>
      </p:graphicFrame>
      <p:sp>
        <p:nvSpPr>
          <p:cNvPr id="8" name="TextBox 7">
            <a:extLst>
              <a:ext uri="{FF2B5EF4-FFF2-40B4-BE49-F238E27FC236}">
                <a16:creationId xmlns:a16="http://schemas.microsoft.com/office/drawing/2014/main" id="{4AA5A3B1-B376-9059-D65B-06CEAAEE026F}"/>
              </a:ext>
            </a:extLst>
          </p:cNvPr>
          <p:cNvSpPr txBox="1"/>
          <p:nvPr/>
        </p:nvSpPr>
        <p:spPr>
          <a:xfrm>
            <a:off x="696907" y="1550445"/>
            <a:ext cx="6097248" cy="369332"/>
          </a:xfrm>
          <a:prstGeom prst="rect">
            <a:avLst/>
          </a:prstGeom>
          <a:noFill/>
        </p:spPr>
        <p:txBody>
          <a:bodyPr wrap="square">
            <a:spAutoFit/>
          </a:bodyPr>
          <a:lstStyle/>
          <a:p>
            <a:r>
              <a:rPr lang="en-IN" dirty="0"/>
              <a:t>1. Superstore Dataset</a:t>
            </a:r>
          </a:p>
        </p:txBody>
      </p:sp>
      <p:sp>
        <p:nvSpPr>
          <p:cNvPr id="10" name="TextBox 9">
            <a:extLst>
              <a:ext uri="{FF2B5EF4-FFF2-40B4-BE49-F238E27FC236}">
                <a16:creationId xmlns:a16="http://schemas.microsoft.com/office/drawing/2014/main" id="{3E3EBCF1-FE77-7EA5-0C3F-42D8374BC424}"/>
              </a:ext>
            </a:extLst>
          </p:cNvPr>
          <p:cNvSpPr txBox="1"/>
          <p:nvPr/>
        </p:nvSpPr>
        <p:spPr>
          <a:xfrm>
            <a:off x="696907" y="5280771"/>
            <a:ext cx="10418300" cy="646331"/>
          </a:xfrm>
          <a:prstGeom prst="rect">
            <a:avLst/>
          </a:prstGeom>
          <a:noFill/>
        </p:spPr>
        <p:txBody>
          <a:bodyPr wrap="square">
            <a:spAutoFit/>
          </a:bodyPr>
          <a:lstStyle/>
          <a:p>
            <a:r>
              <a:rPr lang="en-IN" b="1" dirty="0"/>
              <a:t>Result:</a:t>
            </a:r>
            <a:r>
              <a:rPr lang="en-IN" dirty="0"/>
              <a:t> Linear Regression achieved the highest R² and lowest RMSE, while Random Forest achieved the lowest MAE.</a:t>
            </a:r>
          </a:p>
        </p:txBody>
      </p:sp>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E7AB7-9CE9-6359-3037-8C38F4329EFD}"/>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82394323-D205-F9CD-9DA0-CD9A51C9715A}"/>
              </a:ext>
            </a:extLst>
          </p:cNvPr>
          <p:cNvGraphicFramePr>
            <a:graphicFrameLocks noGrp="1"/>
          </p:cNvGraphicFramePr>
          <p:nvPr>
            <p:ph idx="1"/>
            <p:extLst>
              <p:ext uri="{D42A27DB-BD31-4B8C-83A1-F6EECF244321}">
                <p14:modId xmlns:p14="http://schemas.microsoft.com/office/powerpoint/2010/main" val="2695156582"/>
              </p:ext>
            </p:extLst>
          </p:nvPr>
        </p:nvGraphicFramePr>
        <p:xfrm>
          <a:off x="515288" y="2259385"/>
          <a:ext cx="10969624" cy="2194560"/>
        </p:xfrm>
        <a:graphic>
          <a:graphicData uri="http://schemas.openxmlformats.org/drawingml/2006/table">
            <a:tbl>
              <a:tblPr>
                <a:tableStyleId>{5C22544A-7EE6-4342-B048-85BDC9FD1C3A}</a:tableStyleId>
              </a:tblPr>
              <a:tblGrid>
                <a:gridCol w="2742406">
                  <a:extLst>
                    <a:ext uri="{9D8B030D-6E8A-4147-A177-3AD203B41FA5}">
                      <a16:colId xmlns:a16="http://schemas.microsoft.com/office/drawing/2014/main" val="553810340"/>
                    </a:ext>
                  </a:extLst>
                </a:gridCol>
                <a:gridCol w="2742406">
                  <a:extLst>
                    <a:ext uri="{9D8B030D-6E8A-4147-A177-3AD203B41FA5}">
                      <a16:colId xmlns:a16="http://schemas.microsoft.com/office/drawing/2014/main" val="2252902556"/>
                    </a:ext>
                  </a:extLst>
                </a:gridCol>
                <a:gridCol w="2742406">
                  <a:extLst>
                    <a:ext uri="{9D8B030D-6E8A-4147-A177-3AD203B41FA5}">
                      <a16:colId xmlns:a16="http://schemas.microsoft.com/office/drawing/2014/main" val="2793607569"/>
                    </a:ext>
                  </a:extLst>
                </a:gridCol>
                <a:gridCol w="2742406">
                  <a:extLst>
                    <a:ext uri="{9D8B030D-6E8A-4147-A177-3AD203B41FA5}">
                      <a16:colId xmlns:a16="http://schemas.microsoft.com/office/drawing/2014/main" val="983817784"/>
                    </a:ext>
                  </a:extLst>
                </a:gridCol>
              </a:tblGrid>
              <a:tr h="0">
                <a:tc>
                  <a:txBody>
                    <a:bodyPr/>
                    <a:lstStyle/>
                    <a:p>
                      <a:pPr>
                        <a:buNone/>
                      </a:pPr>
                      <a:r>
                        <a:rPr lang="en-IN" dirty="0"/>
                        <a:t>Model</a:t>
                      </a:r>
                    </a:p>
                  </a:txBody>
                  <a:tcPr anchor="ctr"/>
                </a:tc>
                <a:tc>
                  <a:txBody>
                    <a:bodyPr/>
                    <a:lstStyle/>
                    <a:p>
                      <a:pPr>
                        <a:buNone/>
                      </a:pPr>
                      <a:r>
                        <a:rPr lang="en-IN"/>
                        <a:t>R²</a:t>
                      </a:r>
                    </a:p>
                  </a:txBody>
                  <a:tcPr anchor="ctr"/>
                </a:tc>
                <a:tc>
                  <a:txBody>
                    <a:bodyPr/>
                    <a:lstStyle/>
                    <a:p>
                      <a:pPr>
                        <a:buNone/>
                      </a:pPr>
                      <a:r>
                        <a:rPr lang="en-IN"/>
                        <a:t>MAE</a:t>
                      </a:r>
                    </a:p>
                  </a:txBody>
                  <a:tcPr anchor="ctr"/>
                </a:tc>
                <a:tc>
                  <a:txBody>
                    <a:bodyPr/>
                    <a:lstStyle/>
                    <a:p>
                      <a:pPr>
                        <a:buNone/>
                      </a:pPr>
                      <a:r>
                        <a:rPr lang="en-IN"/>
                        <a:t>RMSE</a:t>
                      </a:r>
                    </a:p>
                  </a:txBody>
                  <a:tcPr anchor="ctr"/>
                </a:tc>
                <a:extLst>
                  <a:ext uri="{0D108BD9-81ED-4DB2-BD59-A6C34878D82A}">
                    <a16:rowId xmlns:a16="http://schemas.microsoft.com/office/drawing/2014/main" val="68861497"/>
                  </a:ext>
                </a:extLst>
              </a:tr>
              <a:tr h="0">
                <a:tc>
                  <a:txBody>
                    <a:bodyPr/>
                    <a:lstStyle/>
                    <a:p>
                      <a:pPr>
                        <a:buNone/>
                      </a:pPr>
                      <a:r>
                        <a:rPr lang="en-IN"/>
                        <a:t>Linear Regression</a:t>
                      </a:r>
                    </a:p>
                  </a:txBody>
                  <a:tcPr anchor="ctr"/>
                </a:tc>
                <a:tc>
                  <a:txBody>
                    <a:bodyPr/>
                    <a:lstStyle/>
                    <a:p>
                      <a:pPr>
                        <a:buNone/>
                      </a:pPr>
                      <a:r>
                        <a:rPr lang="en-IN"/>
                        <a:t>0.3247</a:t>
                      </a:r>
                    </a:p>
                  </a:txBody>
                  <a:tcPr anchor="ctr"/>
                </a:tc>
                <a:tc>
                  <a:txBody>
                    <a:bodyPr/>
                    <a:lstStyle/>
                    <a:p>
                      <a:pPr>
                        <a:buNone/>
                      </a:pPr>
                      <a:r>
                        <a:rPr lang="en-IN"/>
                        <a:t>215.3</a:t>
                      </a:r>
                    </a:p>
                  </a:txBody>
                  <a:tcPr anchor="ctr"/>
                </a:tc>
                <a:tc>
                  <a:txBody>
                    <a:bodyPr/>
                    <a:lstStyle/>
                    <a:p>
                      <a:pPr>
                        <a:buNone/>
                      </a:pPr>
                      <a:r>
                        <a:rPr lang="en-IN"/>
                        <a:t>349.8</a:t>
                      </a:r>
                    </a:p>
                  </a:txBody>
                  <a:tcPr anchor="ctr"/>
                </a:tc>
                <a:extLst>
                  <a:ext uri="{0D108BD9-81ED-4DB2-BD59-A6C34878D82A}">
                    <a16:rowId xmlns:a16="http://schemas.microsoft.com/office/drawing/2014/main" val="3764016939"/>
                  </a:ext>
                </a:extLst>
              </a:tr>
              <a:tr h="0">
                <a:tc>
                  <a:txBody>
                    <a:bodyPr/>
                    <a:lstStyle/>
                    <a:p>
                      <a:pPr>
                        <a:buNone/>
                      </a:pPr>
                      <a:r>
                        <a:rPr lang="en-IN"/>
                        <a:t>Decision Tree</a:t>
                      </a:r>
                    </a:p>
                  </a:txBody>
                  <a:tcPr anchor="ctr"/>
                </a:tc>
                <a:tc>
                  <a:txBody>
                    <a:bodyPr/>
                    <a:lstStyle/>
                    <a:p>
                      <a:pPr>
                        <a:buNone/>
                      </a:pPr>
                      <a:r>
                        <a:rPr lang="en-IN"/>
                        <a:t>0.2266</a:t>
                      </a:r>
                    </a:p>
                  </a:txBody>
                  <a:tcPr anchor="ctr"/>
                </a:tc>
                <a:tc>
                  <a:txBody>
                    <a:bodyPr/>
                    <a:lstStyle/>
                    <a:p>
                      <a:pPr>
                        <a:buNone/>
                      </a:pPr>
                      <a:r>
                        <a:rPr lang="en-IN"/>
                        <a:t>184.2</a:t>
                      </a:r>
                    </a:p>
                  </a:txBody>
                  <a:tcPr anchor="ctr"/>
                </a:tc>
                <a:tc>
                  <a:txBody>
                    <a:bodyPr/>
                    <a:lstStyle/>
                    <a:p>
                      <a:pPr>
                        <a:buNone/>
                      </a:pPr>
                      <a:r>
                        <a:rPr lang="en-IN"/>
                        <a:t>374.3</a:t>
                      </a:r>
                    </a:p>
                  </a:txBody>
                  <a:tcPr anchor="ctr"/>
                </a:tc>
                <a:extLst>
                  <a:ext uri="{0D108BD9-81ED-4DB2-BD59-A6C34878D82A}">
                    <a16:rowId xmlns:a16="http://schemas.microsoft.com/office/drawing/2014/main" val="1037798068"/>
                  </a:ext>
                </a:extLst>
              </a:tr>
              <a:tr h="0">
                <a:tc>
                  <a:txBody>
                    <a:bodyPr/>
                    <a:lstStyle/>
                    <a:p>
                      <a:pPr>
                        <a:buNone/>
                      </a:pPr>
                      <a:r>
                        <a:rPr lang="en-IN"/>
                        <a:t>Random Forest</a:t>
                      </a:r>
                    </a:p>
                  </a:txBody>
                  <a:tcPr anchor="ctr"/>
                </a:tc>
                <a:tc>
                  <a:txBody>
                    <a:bodyPr/>
                    <a:lstStyle/>
                    <a:p>
                      <a:pPr>
                        <a:buNone/>
                      </a:pPr>
                      <a:r>
                        <a:rPr lang="en-IN"/>
                        <a:t>0.3122</a:t>
                      </a:r>
                    </a:p>
                  </a:txBody>
                  <a:tcPr anchor="ctr"/>
                </a:tc>
                <a:tc>
                  <a:txBody>
                    <a:bodyPr/>
                    <a:lstStyle/>
                    <a:p>
                      <a:pPr>
                        <a:buNone/>
                      </a:pPr>
                      <a:r>
                        <a:rPr lang="en-IN"/>
                        <a:t>172.5</a:t>
                      </a:r>
                    </a:p>
                  </a:txBody>
                  <a:tcPr anchor="ctr"/>
                </a:tc>
                <a:tc>
                  <a:txBody>
                    <a:bodyPr/>
                    <a:lstStyle/>
                    <a:p>
                      <a:pPr>
                        <a:buNone/>
                      </a:pPr>
                      <a:r>
                        <a:rPr lang="en-IN"/>
                        <a:t>353.0</a:t>
                      </a:r>
                    </a:p>
                  </a:txBody>
                  <a:tcPr anchor="ctr"/>
                </a:tc>
                <a:extLst>
                  <a:ext uri="{0D108BD9-81ED-4DB2-BD59-A6C34878D82A}">
                    <a16:rowId xmlns:a16="http://schemas.microsoft.com/office/drawing/2014/main" val="2171672121"/>
                  </a:ext>
                </a:extLst>
              </a:tr>
              <a:tr h="0">
                <a:tc>
                  <a:txBody>
                    <a:bodyPr/>
                    <a:lstStyle/>
                    <a:p>
                      <a:pPr>
                        <a:buNone/>
                      </a:pPr>
                      <a:r>
                        <a:rPr lang="en-IN"/>
                        <a:t>Gradient Boosting</a:t>
                      </a:r>
                    </a:p>
                  </a:txBody>
                  <a:tcPr anchor="ctr"/>
                </a:tc>
                <a:tc>
                  <a:txBody>
                    <a:bodyPr/>
                    <a:lstStyle/>
                    <a:p>
                      <a:pPr>
                        <a:buNone/>
                      </a:pPr>
                      <a:r>
                        <a:rPr lang="en-IN"/>
                        <a:t>0.4568</a:t>
                      </a:r>
                    </a:p>
                  </a:txBody>
                  <a:tcPr anchor="ctr"/>
                </a:tc>
                <a:tc>
                  <a:txBody>
                    <a:bodyPr/>
                    <a:lstStyle/>
                    <a:p>
                      <a:pPr>
                        <a:buNone/>
                      </a:pPr>
                      <a:r>
                        <a:rPr lang="en-IN"/>
                        <a:t>168.6</a:t>
                      </a:r>
                    </a:p>
                  </a:txBody>
                  <a:tcPr anchor="ctr"/>
                </a:tc>
                <a:tc>
                  <a:txBody>
                    <a:bodyPr/>
                    <a:lstStyle/>
                    <a:p>
                      <a:pPr>
                        <a:buNone/>
                      </a:pPr>
                      <a:r>
                        <a:rPr lang="en-IN"/>
                        <a:t>313.7</a:t>
                      </a:r>
                    </a:p>
                  </a:txBody>
                  <a:tcPr anchor="ctr"/>
                </a:tc>
                <a:extLst>
                  <a:ext uri="{0D108BD9-81ED-4DB2-BD59-A6C34878D82A}">
                    <a16:rowId xmlns:a16="http://schemas.microsoft.com/office/drawing/2014/main" val="2139469211"/>
                  </a:ext>
                </a:extLst>
              </a:tr>
              <a:tr h="0">
                <a:tc>
                  <a:txBody>
                    <a:bodyPr/>
                    <a:lstStyle/>
                    <a:p>
                      <a:pPr>
                        <a:buNone/>
                      </a:pPr>
                      <a:r>
                        <a:rPr lang="en-IN"/>
                        <a:t>HSRE</a:t>
                      </a:r>
                    </a:p>
                  </a:txBody>
                  <a:tcPr anchor="ctr"/>
                </a:tc>
                <a:tc>
                  <a:txBody>
                    <a:bodyPr/>
                    <a:lstStyle/>
                    <a:p>
                      <a:pPr>
                        <a:buNone/>
                      </a:pPr>
                      <a:r>
                        <a:rPr lang="en-IN"/>
                        <a:t>0.4275</a:t>
                      </a:r>
                    </a:p>
                  </a:txBody>
                  <a:tcPr anchor="ctr"/>
                </a:tc>
                <a:tc>
                  <a:txBody>
                    <a:bodyPr/>
                    <a:lstStyle/>
                    <a:p>
                      <a:pPr>
                        <a:buNone/>
                      </a:pPr>
                      <a:r>
                        <a:rPr lang="en-IN"/>
                        <a:t>181.8</a:t>
                      </a:r>
                    </a:p>
                  </a:txBody>
                  <a:tcPr anchor="ctr"/>
                </a:tc>
                <a:tc>
                  <a:txBody>
                    <a:bodyPr/>
                    <a:lstStyle/>
                    <a:p>
                      <a:pPr>
                        <a:buNone/>
                      </a:pPr>
                      <a:r>
                        <a:rPr lang="en-IN" dirty="0"/>
                        <a:t>322.1</a:t>
                      </a:r>
                    </a:p>
                  </a:txBody>
                  <a:tcPr anchor="ctr"/>
                </a:tc>
                <a:extLst>
                  <a:ext uri="{0D108BD9-81ED-4DB2-BD59-A6C34878D82A}">
                    <a16:rowId xmlns:a16="http://schemas.microsoft.com/office/drawing/2014/main" val="3689211445"/>
                  </a:ext>
                </a:extLst>
              </a:tr>
            </a:tbl>
          </a:graphicData>
        </a:graphic>
      </p:graphicFrame>
      <p:sp>
        <p:nvSpPr>
          <p:cNvPr id="6" name="TextBox 5">
            <a:extLst>
              <a:ext uri="{FF2B5EF4-FFF2-40B4-BE49-F238E27FC236}">
                <a16:creationId xmlns:a16="http://schemas.microsoft.com/office/drawing/2014/main" id="{D05751F9-466A-8D44-00D7-C210BDEC3BC8}"/>
              </a:ext>
            </a:extLst>
          </p:cNvPr>
          <p:cNvSpPr txBox="1"/>
          <p:nvPr/>
        </p:nvSpPr>
        <p:spPr>
          <a:xfrm>
            <a:off x="608400" y="1623081"/>
            <a:ext cx="6097248" cy="369332"/>
          </a:xfrm>
          <a:prstGeom prst="rect">
            <a:avLst/>
          </a:prstGeom>
          <a:noFill/>
        </p:spPr>
        <p:txBody>
          <a:bodyPr wrap="square">
            <a:spAutoFit/>
          </a:bodyPr>
          <a:lstStyle/>
          <a:p>
            <a:pPr>
              <a:buNone/>
            </a:pPr>
            <a:r>
              <a:rPr lang="en-IN" b="1" dirty="0"/>
              <a:t>2. Global Superstore Dataset</a:t>
            </a:r>
          </a:p>
        </p:txBody>
      </p:sp>
      <p:sp>
        <p:nvSpPr>
          <p:cNvPr id="8" name="TextBox 7">
            <a:extLst>
              <a:ext uri="{FF2B5EF4-FFF2-40B4-BE49-F238E27FC236}">
                <a16:creationId xmlns:a16="http://schemas.microsoft.com/office/drawing/2014/main" id="{EB5184CC-6EA1-AC6E-01C7-2AFB12B48F14}"/>
              </a:ext>
            </a:extLst>
          </p:cNvPr>
          <p:cNvSpPr txBox="1"/>
          <p:nvPr/>
        </p:nvSpPr>
        <p:spPr>
          <a:xfrm>
            <a:off x="515288" y="4752999"/>
            <a:ext cx="6097248" cy="646331"/>
          </a:xfrm>
          <a:prstGeom prst="rect">
            <a:avLst/>
          </a:prstGeom>
          <a:noFill/>
        </p:spPr>
        <p:txBody>
          <a:bodyPr wrap="square">
            <a:spAutoFit/>
          </a:bodyPr>
          <a:lstStyle/>
          <a:p>
            <a:pPr>
              <a:buNone/>
            </a:pPr>
            <a:r>
              <a:rPr lang="en-IN" sz="1800" b="1" dirty="0"/>
              <a:t>Result:</a:t>
            </a:r>
            <a:r>
              <a:rPr lang="en-IN" sz="1800" dirty="0"/>
              <a:t> Gradient Boosting performed best across </a:t>
            </a:r>
            <a:r>
              <a:rPr lang="en-IN" sz="1800" b="1" dirty="0"/>
              <a:t>all three metrics</a:t>
            </a:r>
            <a:r>
              <a:rPr lang="en-IN" sz="1800" dirty="0"/>
              <a:t> for this dataset.</a:t>
            </a:r>
          </a:p>
        </p:txBody>
      </p:sp>
    </p:spTree>
    <p:extLst>
      <p:ext uri="{BB962C8B-B14F-4D97-AF65-F5344CB8AC3E}">
        <p14:creationId xmlns:p14="http://schemas.microsoft.com/office/powerpoint/2010/main" val="7706696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6504A-3697-B825-348D-0A5274DAD7EA}"/>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9CC143CD-9E97-673B-1659-46CFF12AFF69}"/>
              </a:ext>
            </a:extLst>
          </p:cNvPr>
          <p:cNvGraphicFramePr>
            <a:graphicFrameLocks noGrp="1"/>
          </p:cNvGraphicFramePr>
          <p:nvPr>
            <p:ph idx="1"/>
            <p:extLst>
              <p:ext uri="{D42A27DB-BD31-4B8C-83A1-F6EECF244321}">
                <p14:modId xmlns:p14="http://schemas.microsoft.com/office/powerpoint/2010/main" val="1428705543"/>
              </p:ext>
            </p:extLst>
          </p:nvPr>
        </p:nvGraphicFramePr>
        <p:xfrm>
          <a:off x="488055" y="2480738"/>
          <a:ext cx="10969624" cy="2194560"/>
        </p:xfrm>
        <a:graphic>
          <a:graphicData uri="http://schemas.openxmlformats.org/drawingml/2006/table">
            <a:tbl>
              <a:tblPr>
                <a:tableStyleId>{5C22544A-7EE6-4342-B048-85BDC9FD1C3A}</a:tableStyleId>
              </a:tblPr>
              <a:tblGrid>
                <a:gridCol w="2742406">
                  <a:extLst>
                    <a:ext uri="{9D8B030D-6E8A-4147-A177-3AD203B41FA5}">
                      <a16:colId xmlns:a16="http://schemas.microsoft.com/office/drawing/2014/main" val="3035693807"/>
                    </a:ext>
                  </a:extLst>
                </a:gridCol>
                <a:gridCol w="2742406">
                  <a:extLst>
                    <a:ext uri="{9D8B030D-6E8A-4147-A177-3AD203B41FA5}">
                      <a16:colId xmlns:a16="http://schemas.microsoft.com/office/drawing/2014/main" val="4096503884"/>
                    </a:ext>
                  </a:extLst>
                </a:gridCol>
                <a:gridCol w="2742406">
                  <a:extLst>
                    <a:ext uri="{9D8B030D-6E8A-4147-A177-3AD203B41FA5}">
                      <a16:colId xmlns:a16="http://schemas.microsoft.com/office/drawing/2014/main" val="553683757"/>
                    </a:ext>
                  </a:extLst>
                </a:gridCol>
                <a:gridCol w="2742406">
                  <a:extLst>
                    <a:ext uri="{9D8B030D-6E8A-4147-A177-3AD203B41FA5}">
                      <a16:colId xmlns:a16="http://schemas.microsoft.com/office/drawing/2014/main" val="2651241604"/>
                    </a:ext>
                  </a:extLst>
                </a:gridCol>
              </a:tblGrid>
              <a:tr h="0">
                <a:tc>
                  <a:txBody>
                    <a:bodyPr/>
                    <a:lstStyle/>
                    <a:p>
                      <a:pPr>
                        <a:buNone/>
                      </a:pPr>
                      <a:r>
                        <a:rPr lang="en-IN"/>
                        <a:t>Model</a:t>
                      </a:r>
                    </a:p>
                  </a:txBody>
                  <a:tcPr anchor="ctr"/>
                </a:tc>
                <a:tc>
                  <a:txBody>
                    <a:bodyPr/>
                    <a:lstStyle/>
                    <a:p>
                      <a:pPr>
                        <a:buNone/>
                      </a:pPr>
                      <a:r>
                        <a:rPr lang="en-IN"/>
                        <a:t>R²</a:t>
                      </a:r>
                    </a:p>
                  </a:txBody>
                  <a:tcPr anchor="ctr"/>
                </a:tc>
                <a:tc>
                  <a:txBody>
                    <a:bodyPr/>
                    <a:lstStyle/>
                    <a:p>
                      <a:pPr>
                        <a:buNone/>
                      </a:pPr>
                      <a:r>
                        <a:rPr lang="en-IN"/>
                        <a:t>MAE</a:t>
                      </a:r>
                    </a:p>
                  </a:txBody>
                  <a:tcPr anchor="ctr"/>
                </a:tc>
                <a:tc>
                  <a:txBody>
                    <a:bodyPr/>
                    <a:lstStyle/>
                    <a:p>
                      <a:pPr>
                        <a:buNone/>
                      </a:pPr>
                      <a:r>
                        <a:rPr lang="en-IN"/>
                        <a:t>RMSE</a:t>
                      </a:r>
                    </a:p>
                  </a:txBody>
                  <a:tcPr anchor="ctr"/>
                </a:tc>
                <a:extLst>
                  <a:ext uri="{0D108BD9-81ED-4DB2-BD59-A6C34878D82A}">
                    <a16:rowId xmlns:a16="http://schemas.microsoft.com/office/drawing/2014/main" val="1769584945"/>
                  </a:ext>
                </a:extLst>
              </a:tr>
              <a:tr h="0">
                <a:tc>
                  <a:txBody>
                    <a:bodyPr/>
                    <a:lstStyle/>
                    <a:p>
                      <a:pPr>
                        <a:buNone/>
                      </a:pPr>
                      <a:r>
                        <a:rPr lang="en-IN"/>
                        <a:t>Linear Regression</a:t>
                      </a:r>
                    </a:p>
                  </a:txBody>
                  <a:tcPr anchor="ctr"/>
                </a:tc>
                <a:tc>
                  <a:txBody>
                    <a:bodyPr/>
                    <a:lstStyle/>
                    <a:p>
                      <a:pPr>
                        <a:buNone/>
                      </a:pPr>
                      <a:r>
                        <a:rPr lang="en-IN"/>
                        <a:t>0.2510</a:t>
                      </a:r>
                    </a:p>
                  </a:txBody>
                  <a:tcPr anchor="ctr"/>
                </a:tc>
                <a:tc>
                  <a:txBody>
                    <a:bodyPr/>
                    <a:lstStyle/>
                    <a:p>
                      <a:pPr>
                        <a:buNone/>
                      </a:pPr>
                      <a:r>
                        <a:rPr lang="en-IN"/>
                        <a:t>195.35</a:t>
                      </a:r>
                    </a:p>
                  </a:txBody>
                  <a:tcPr anchor="ctr"/>
                </a:tc>
                <a:tc>
                  <a:txBody>
                    <a:bodyPr/>
                    <a:lstStyle/>
                    <a:p>
                      <a:pPr>
                        <a:buNone/>
                      </a:pPr>
                      <a:r>
                        <a:rPr lang="en-IN"/>
                        <a:t>409.72</a:t>
                      </a:r>
                    </a:p>
                  </a:txBody>
                  <a:tcPr anchor="ctr"/>
                </a:tc>
                <a:extLst>
                  <a:ext uri="{0D108BD9-81ED-4DB2-BD59-A6C34878D82A}">
                    <a16:rowId xmlns:a16="http://schemas.microsoft.com/office/drawing/2014/main" val="2848441194"/>
                  </a:ext>
                </a:extLst>
              </a:tr>
              <a:tr h="0">
                <a:tc>
                  <a:txBody>
                    <a:bodyPr/>
                    <a:lstStyle/>
                    <a:p>
                      <a:pPr>
                        <a:buNone/>
                      </a:pPr>
                      <a:r>
                        <a:rPr lang="en-IN"/>
                        <a:t>Decision Tree</a:t>
                      </a:r>
                    </a:p>
                  </a:txBody>
                  <a:tcPr anchor="ctr"/>
                </a:tc>
                <a:tc>
                  <a:txBody>
                    <a:bodyPr/>
                    <a:lstStyle/>
                    <a:p>
                      <a:pPr>
                        <a:buNone/>
                      </a:pPr>
                      <a:r>
                        <a:rPr lang="en-IN"/>
                        <a:t>0.2053</a:t>
                      </a:r>
                    </a:p>
                  </a:txBody>
                  <a:tcPr anchor="ctr"/>
                </a:tc>
                <a:tc>
                  <a:txBody>
                    <a:bodyPr/>
                    <a:lstStyle/>
                    <a:p>
                      <a:pPr>
                        <a:buNone/>
                      </a:pPr>
                      <a:r>
                        <a:rPr lang="en-IN"/>
                        <a:t>180.37</a:t>
                      </a:r>
                    </a:p>
                  </a:txBody>
                  <a:tcPr anchor="ctr"/>
                </a:tc>
                <a:tc>
                  <a:txBody>
                    <a:bodyPr/>
                    <a:lstStyle/>
                    <a:p>
                      <a:pPr>
                        <a:buNone/>
                      </a:pPr>
                      <a:r>
                        <a:rPr lang="en-IN"/>
                        <a:t>422.02</a:t>
                      </a:r>
                    </a:p>
                  </a:txBody>
                  <a:tcPr anchor="ctr"/>
                </a:tc>
                <a:extLst>
                  <a:ext uri="{0D108BD9-81ED-4DB2-BD59-A6C34878D82A}">
                    <a16:rowId xmlns:a16="http://schemas.microsoft.com/office/drawing/2014/main" val="2951035039"/>
                  </a:ext>
                </a:extLst>
              </a:tr>
              <a:tr h="0">
                <a:tc>
                  <a:txBody>
                    <a:bodyPr/>
                    <a:lstStyle/>
                    <a:p>
                      <a:pPr>
                        <a:buNone/>
                      </a:pPr>
                      <a:r>
                        <a:rPr lang="en-IN"/>
                        <a:t>Random Forest</a:t>
                      </a:r>
                    </a:p>
                  </a:txBody>
                  <a:tcPr anchor="ctr"/>
                </a:tc>
                <a:tc>
                  <a:txBody>
                    <a:bodyPr/>
                    <a:lstStyle/>
                    <a:p>
                      <a:pPr>
                        <a:buNone/>
                      </a:pPr>
                      <a:r>
                        <a:rPr lang="en-IN"/>
                        <a:t>0.2598</a:t>
                      </a:r>
                    </a:p>
                  </a:txBody>
                  <a:tcPr anchor="ctr"/>
                </a:tc>
                <a:tc>
                  <a:txBody>
                    <a:bodyPr/>
                    <a:lstStyle/>
                    <a:p>
                      <a:pPr>
                        <a:buNone/>
                      </a:pPr>
                      <a:r>
                        <a:rPr lang="en-IN"/>
                        <a:t>183.70</a:t>
                      </a:r>
                    </a:p>
                  </a:txBody>
                  <a:tcPr anchor="ctr"/>
                </a:tc>
                <a:tc>
                  <a:txBody>
                    <a:bodyPr/>
                    <a:lstStyle/>
                    <a:p>
                      <a:pPr>
                        <a:buNone/>
                      </a:pPr>
                      <a:r>
                        <a:rPr lang="en-IN"/>
                        <a:t>407.30</a:t>
                      </a:r>
                    </a:p>
                  </a:txBody>
                  <a:tcPr anchor="ctr"/>
                </a:tc>
                <a:extLst>
                  <a:ext uri="{0D108BD9-81ED-4DB2-BD59-A6C34878D82A}">
                    <a16:rowId xmlns:a16="http://schemas.microsoft.com/office/drawing/2014/main" val="1058387344"/>
                  </a:ext>
                </a:extLst>
              </a:tr>
              <a:tr h="0">
                <a:tc>
                  <a:txBody>
                    <a:bodyPr/>
                    <a:lstStyle/>
                    <a:p>
                      <a:pPr>
                        <a:buNone/>
                      </a:pPr>
                      <a:r>
                        <a:rPr lang="en-IN"/>
                        <a:t>Gradient Boosting</a:t>
                      </a:r>
                    </a:p>
                  </a:txBody>
                  <a:tcPr anchor="ctr"/>
                </a:tc>
                <a:tc>
                  <a:txBody>
                    <a:bodyPr/>
                    <a:lstStyle/>
                    <a:p>
                      <a:pPr>
                        <a:buNone/>
                      </a:pPr>
                      <a:r>
                        <a:rPr lang="en-IN"/>
                        <a:t>0.2543</a:t>
                      </a:r>
                    </a:p>
                  </a:txBody>
                  <a:tcPr anchor="ctr"/>
                </a:tc>
                <a:tc>
                  <a:txBody>
                    <a:bodyPr/>
                    <a:lstStyle/>
                    <a:p>
                      <a:pPr>
                        <a:buNone/>
                      </a:pPr>
                      <a:r>
                        <a:rPr lang="en-IN"/>
                        <a:t>182.43</a:t>
                      </a:r>
                    </a:p>
                  </a:txBody>
                  <a:tcPr anchor="ctr"/>
                </a:tc>
                <a:tc>
                  <a:txBody>
                    <a:bodyPr/>
                    <a:lstStyle/>
                    <a:p>
                      <a:pPr>
                        <a:buNone/>
                      </a:pPr>
                      <a:r>
                        <a:rPr lang="en-IN"/>
                        <a:t>408.82</a:t>
                      </a:r>
                    </a:p>
                  </a:txBody>
                  <a:tcPr anchor="ctr"/>
                </a:tc>
                <a:extLst>
                  <a:ext uri="{0D108BD9-81ED-4DB2-BD59-A6C34878D82A}">
                    <a16:rowId xmlns:a16="http://schemas.microsoft.com/office/drawing/2014/main" val="585198959"/>
                  </a:ext>
                </a:extLst>
              </a:tr>
              <a:tr h="0">
                <a:tc>
                  <a:txBody>
                    <a:bodyPr/>
                    <a:lstStyle/>
                    <a:p>
                      <a:pPr>
                        <a:buNone/>
                      </a:pPr>
                      <a:r>
                        <a:rPr lang="en-IN" dirty="0"/>
                        <a:t>HSRE</a:t>
                      </a:r>
                    </a:p>
                  </a:txBody>
                  <a:tcPr anchor="ctr"/>
                </a:tc>
                <a:tc>
                  <a:txBody>
                    <a:bodyPr/>
                    <a:lstStyle/>
                    <a:p>
                      <a:pPr>
                        <a:buNone/>
                      </a:pPr>
                      <a:r>
                        <a:rPr lang="en-IN"/>
                        <a:t>0.2726</a:t>
                      </a:r>
                    </a:p>
                  </a:txBody>
                  <a:tcPr anchor="ctr"/>
                </a:tc>
                <a:tc>
                  <a:txBody>
                    <a:bodyPr/>
                    <a:lstStyle/>
                    <a:p>
                      <a:pPr>
                        <a:buNone/>
                      </a:pPr>
                      <a:r>
                        <a:rPr lang="en-IN"/>
                        <a:t>187.17</a:t>
                      </a:r>
                    </a:p>
                  </a:txBody>
                  <a:tcPr anchor="ctr"/>
                </a:tc>
                <a:tc>
                  <a:txBody>
                    <a:bodyPr/>
                    <a:lstStyle/>
                    <a:p>
                      <a:pPr>
                        <a:buNone/>
                      </a:pPr>
                      <a:r>
                        <a:rPr lang="en-IN" dirty="0"/>
                        <a:t>403.77</a:t>
                      </a:r>
                    </a:p>
                  </a:txBody>
                  <a:tcPr anchor="ctr"/>
                </a:tc>
                <a:extLst>
                  <a:ext uri="{0D108BD9-81ED-4DB2-BD59-A6C34878D82A}">
                    <a16:rowId xmlns:a16="http://schemas.microsoft.com/office/drawing/2014/main" val="712417334"/>
                  </a:ext>
                </a:extLst>
              </a:tr>
            </a:tbl>
          </a:graphicData>
        </a:graphic>
      </p:graphicFrame>
      <p:sp>
        <p:nvSpPr>
          <p:cNvPr id="6" name="TextBox 5">
            <a:extLst>
              <a:ext uri="{FF2B5EF4-FFF2-40B4-BE49-F238E27FC236}">
                <a16:creationId xmlns:a16="http://schemas.microsoft.com/office/drawing/2014/main" id="{9F790E97-4B44-47DC-C18A-67A7DF9963AA}"/>
              </a:ext>
            </a:extLst>
          </p:cNvPr>
          <p:cNvSpPr txBox="1"/>
          <p:nvPr/>
        </p:nvSpPr>
        <p:spPr>
          <a:xfrm>
            <a:off x="608400" y="1660237"/>
            <a:ext cx="6097248" cy="369332"/>
          </a:xfrm>
          <a:prstGeom prst="rect">
            <a:avLst/>
          </a:prstGeom>
          <a:noFill/>
        </p:spPr>
        <p:txBody>
          <a:bodyPr wrap="square">
            <a:spAutoFit/>
          </a:bodyPr>
          <a:lstStyle/>
          <a:p>
            <a:pPr>
              <a:buNone/>
            </a:pPr>
            <a:r>
              <a:rPr lang="en-IN" b="1" dirty="0"/>
              <a:t>3. Online Sales Dataset</a:t>
            </a:r>
          </a:p>
        </p:txBody>
      </p:sp>
      <p:sp>
        <p:nvSpPr>
          <p:cNvPr id="8" name="TextBox 7">
            <a:extLst>
              <a:ext uri="{FF2B5EF4-FFF2-40B4-BE49-F238E27FC236}">
                <a16:creationId xmlns:a16="http://schemas.microsoft.com/office/drawing/2014/main" id="{D3605DCE-D6D6-06A7-858F-EF04A0A7D542}"/>
              </a:ext>
            </a:extLst>
          </p:cNvPr>
          <p:cNvSpPr txBox="1"/>
          <p:nvPr/>
        </p:nvSpPr>
        <p:spPr>
          <a:xfrm>
            <a:off x="488055" y="4949625"/>
            <a:ext cx="8566004" cy="646331"/>
          </a:xfrm>
          <a:prstGeom prst="rect">
            <a:avLst/>
          </a:prstGeom>
          <a:noFill/>
        </p:spPr>
        <p:txBody>
          <a:bodyPr wrap="square">
            <a:spAutoFit/>
          </a:bodyPr>
          <a:lstStyle/>
          <a:p>
            <a:pPr>
              <a:buNone/>
            </a:pPr>
            <a:r>
              <a:rPr lang="en-IN" b="1" dirty="0"/>
              <a:t>Result:</a:t>
            </a:r>
            <a:r>
              <a:rPr lang="en-IN" dirty="0"/>
              <a:t> HSRE achieved the </a:t>
            </a:r>
            <a:r>
              <a:rPr lang="en-IN" b="1" dirty="0"/>
              <a:t>highest R² and lowest RMSE</a:t>
            </a:r>
            <a:r>
              <a:rPr lang="en-IN" dirty="0"/>
              <a:t>, while Decision Tree achieved the lowest MAE.</a:t>
            </a:r>
          </a:p>
        </p:txBody>
      </p:sp>
    </p:spTree>
    <p:extLst>
      <p:ext uri="{BB962C8B-B14F-4D97-AF65-F5344CB8AC3E}">
        <p14:creationId xmlns:p14="http://schemas.microsoft.com/office/powerpoint/2010/main" val="4486227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DC9B5-4FE7-2F77-864B-DAB1383356E9}"/>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BEB8822A-23E5-8838-5A62-70BE72796B53}"/>
              </a:ext>
            </a:extLst>
          </p:cNvPr>
          <p:cNvGraphicFramePr>
            <a:graphicFrameLocks noGrp="1"/>
          </p:cNvGraphicFramePr>
          <p:nvPr>
            <p:ph idx="1"/>
            <p:extLst>
              <p:ext uri="{D42A27DB-BD31-4B8C-83A1-F6EECF244321}">
                <p14:modId xmlns:p14="http://schemas.microsoft.com/office/powerpoint/2010/main" val="3346389717"/>
              </p:ext>
            </p:extLst>
          </p:nvPr>
        </p:nvGraphicFramePr>
        <p:xfrm>
          <a:off x="607976" y="2653124"/>
          <a:ext cx="10969624" cy="2194560"/>
        </p:xfrm>
        <a:graphic>
          <a:graphicData uri="http://schemas.openxmlformats.org/drawingml/2006/table">
            <a:tbl>
              <a:tblPr>
                <a:tableStyleId>{5C22544A-7EE6-4342-B048-85BDC9FD1C3A}</a:tableStyleId>
              </a:tblPr>
              <a:tblGrid>
                <a:gridCol w="2742406">
                  <a:extLst>
                    <a:ext uri="{9D8B030D-6E8A-4147-A177-3AD203B41FA5}">
                      <a16:colId xmlns:a16="http://schemas.microsoft.com/office/drawing/2014/main" val="3254559550"/>
                    </a:ext>
                  </a:extLst>
                </a:gridCol>
                <a:gridCol w="2742406">
                  <a:extLst>
                    <a:ext uri="{9D8B030D-6E8A-4147-A177-3AD203B41FA5}">
                      <a16:colId xmlns:a16="http://schemas.microsoft.com/office/drawing/2014/main" val="1147914448"/>
                    </a:ext>
                  </a:extLst>
                </a:gridCol>
                <a:gridCol w="2742406">
                  <a:extLst>
                    <a:ext uri="{9D8B030D-6E8A-4147-A177-3AD203B41FA5}">
                      <a16:colId xmlns:a16="http://schemas.microsoft.com/office/drawing/2014/main" val="312196741"/>
                    </a:ext>
                  </a:extLst>
                </a:gridCol>
                <a:gridCol w="2742406">
                  <a:extLst>
                    <a:ext uri="{9D8B030D-6E8A-4147-A177-3AD203B41FA5}">
                      <a16:colId xmlns:a16="http://schemas.microsoft.com/office/drawing/2014/main" val="2438799524"/>
                    </a:ext>
                  </a:extLst>
                </a:gridCol>
              </a:tblGrid>
              <a:tr h="0">
                <a:tc>
                  <a:txBody>
                    <a:bodyPr/>
                    <a:lstStyle/>
                    <a:p>
                      <a:pPr>
                        <a:buNone/>
                      </a:pPr>
                      <a:r>
                        <a:rPr lang="en-IN"/>
                        <a:t>Model</a:t>
                      </a:r>
                    </a:p>
                  </a:txBody>
                  <a:tcPr anchor="ctr"/>
                </a:tc>
                <a:tc>
                  <a:txBody>
                    <a:bodyPr/>
                    <a:lstStyle/>
                    <a:p>
                      <a:pPr>
                        <a:buNone/>
                      </a:pPr>
                      <a:r>
                        <a:rPr lang="en-IN"/>
                        <a:t>R²</a:t>
                      </a:r>
                    </a:p>
                  </a:txBody>
                  <a:tcPr anchor="ctr"/>
                </a:tc>
                <a:tc>
                  <a:txBody>
                    <a:bodyPr/>
                    <a:lstStyle/>
                    <a:p>
                      <a:pPr>
                        <a:buNone/>
                      </a:pPr>
                      <a:r>
                        <a:rPr lang="en-IN"/>
                        <a:t>MAE</a:t>
                      </a:r>
                    </a:p>
                  </a:txBody>
                  <a:tcPr anchor="ctr"/>
                </a:tc>
                <a:tc>
                  <a:txBody>
                    <a:bodyPr/>
                    <a:lstStyle/>
                    <a:p>
                      <a:pPr>
                        <a:buNone/>
                      </a:pPr>
                      <a:r>
                        <a:rPr lang="en-IN"/>
                        <a:t>RMSE</a:t>
                      </a:r>
                    </a:p>
                  </a:txBody>
                  <a:tcPr anchor="ctr"/>
                </a:tc>
                <a:extLst>
                  <a:ext uri="{0D108BD9-81ED-4DB2-BD59-A6C34878D82A}">
                    <a16:rowId xmlns:a16="http://schemas.microsoft.com/office/drawing/2014/main" val="217593512"/>
                  </a:ext>
                </a:extLst>
              </a:tr>
              <a:tr h="0">
                <a:tc>
                  <a:txBody>
                    <a:bodyPr/>
                    <a:lstStyle/>
                    <a:p>
                      <a:pPr>
                        <a:buNone/>
                      </a:pPr>
                      <a:r>
                        <a:rPr lang="en-IN"/>
                        <a:t>Linear Regression</a:t>
                      </a:r>
                    </a:p>
                  </a:txBody>
                  <a:tcPr anchor="ctr"/>
                </a:tc>
                <a:tc>
                  <a:txBody>
                    <a:bodyPr/>
                    <a:lstStyle/>
                    <a:p>
                      <a:pPr>
                        <a:buNone/>
                      </a:pPr>
                      <a:r>
                        <a:rPr lang="en-IN"/>
                        <a:t>0.4910</a:t>
                      </a:r>
                    </a:p>
                  </a:txBody>
                  <a:tcPr anchor="ctr"/>
                </a:tc>
                <a:tc>
                  <a:txBody>
                    <a:bodyPr/>
                    <a:lstStyle/>
                    <a:p>
                      <a:pPr>
                        <a:buNone/>
                      </a:pPr>
                      <a:r>
                        <a:rPr lang="en-IN"/>
                        <a:t>191.4</a:t>
                      </a:r>
                    </a:p>
                  </a:txBody>
                  <a:tcPr anchor="ctr"/>
                </a:tc>
                <a:tc>
                  <a:txBody>
                    <a:bodyPr/>
                    <a:lstStyle/>
                    <a:p>
                      <a:pPr>
                        <a:buNone/>
                      </a:pPr>
                      <a:r>
                        <a:rPr lang="en-IN"/>
                        <a:t>274.0</a:t>
                      </a:r>
                    </a:p>
                  </a:txBody>
                  <a:tcPr anchor="ctr"/>
                </a:tc>
                <a:extLst>
                  <a:ext uri="{0D108BD9-81ED-4DB2-BD59-A6C34878D82A}">
                    <a16:rowId xmlns:a16="http://schemas.microsoft.com/office/drawing/2014/main" val="3673196900"/>
                  </a:ext>
                </a:extLst>
              </a:tr>
              <a:tr h="0">
                <a:tc>
                  <a:txBody>
                    <a:bodyPr/>
                    <a:lstStyle/>
                    <a:p>
                      <a:pPr>
                        <a:buNone/>
                      </a:pPr>
                      <a:r>
                        <a:rPr lang="en-IN"/>
                        <a:t>Decision Tree</a:t>
                      </a:r>
                    </a:p>
                  </a:txBody>
                  <a:tcPr anchor="ctr"/>
                </a:tc>
                <a:tc>
                  <a:txBody>
                    <a:bodyPr/>
                    <a:lstStyle/>
                    <a:p>
                      <a:pPr>
                        <a:buNone/>
                      </a:pPr>
                      <a:r>
                        <a:rPr lang="en-IN"/>
                        <a:t>0.4685</a:t>
                      </a:r>
                    </a:p>
                  </a:txBody>
                  <a:tcPr anchor="ctr"/>
                </a:tc>
                <a:tc>
                  <a:txBody>
                    <a:bodyPr/>
                    <a:lstStyle/>
                    <a:p>
                      <a:pPr>
                        <a:buNone/>
                      </a:pPr>
                      <a:r>
                        <a:rPr lang="en-IN"/>
                        <a:t>158.0</a:t>
                      </a:r>
                    </a:p>
                  </a:txBody>
                  <a:tcPr anchor="ctr"/>
                </a:tc>
                <a:tc>
                  <a:txBody>
                    <a:bodyPr/>
                    <a:lstStyle/>
                    <a:p>
                      <a:pPr>
                        <a:buNone/>
                      </a:pPr>
                      <a:r>
                        <a:rPr lang="en-IN"/>
                        <a:t>280.0</a:t>
                      </a:r>
                    </a:p>
                  </a:txBody>
                  <a:tcPr anchor="ctr"/>
                </a:tc>
                <a:extLst>
                  <a:ext uri="{0D108BD9-81ED-4DB2-BD59-A6C34878D82A}">
                    <a16:rowId xmlns:a16="http://schemas.microsoft.com/office/drawing/2014/main" val="134387330"/>
                  </a:ext>
                </a:extLst>
              </a:tr>
              <a:tr h="0">
                <a:tc>
                  <a:txBody>
                    <a:bodyPr/>
                    <a:lstStyle/>
                    <a:p>
                      <a:pPr>
                        <a:buNone/>
                      </a:pPr>
                      <a:r>
                        <a:rPr lang="en-IN"/>
                        <a:t>Random Forest</a:t>
                      </a:r>
                    </a:p>
                  </a:txBody>
                  <a:tcPr anchor="ctr"/>
                </a:tc>
                <a:tc>
                  <a:txBody>
                    <a:bodyPr/>
                    <a:lstStyle/>
                    <a:p>
                      <a:pPr>
                        <a:buNone/>
                      </a:pPr>
                      <a:r>
                        <a:rPr lang="en-IN"/>
                        <a:t>0.4267</a:t>
                      </a:r>
                    </a:p>
                  </a:txBody>
                  <a:tcPr anchor="ctr"/>
                </a:tc>
                <a:tc>
                  <a:txBody>
                    <a:bodyPr/>
                    <a:lstStyle/>
                    <a:p>
                      <a:pPr>
                        <a:buNone/>
                      </a:pPr>
                      <a:r>
                        <a:rPr lang="en-IN"/>
                        <a:t>156.1</a:t>
                      </a:r>
                    </a:p>
                  </a:txBody>
                  <a:tcPr anchor="ctr"/>
                </a:tc>
                <a:tc>
                  <a:txBody>
                    <a:bodyPr/>
                    <a:lstStyle/>
                    <a:p>
                      <a:pPr>
                        <a:buNone/>
                      </a:pPr>
                      <a:r>
                        <a:rPr lang="en-IN"/>
                        <a:t>290.8</a:t>
                      </a:r>
                    </a:p>
                  </a:txBody>
                  <a:tcPr anchor="ctr"/>
                </a:tc>
                <a:extLst>
                  <a:ext uri="{0D108BD9-81ED-4DB2-BD59-A6C34878D82A}">
                    <a16:rowId xmlns:a16="http://schemas.microsoft.com/office/drawing/2014/main" val="3980917358"/>
                  </a:ext>
                </a:extLst>
              </a:tr>
              <a:tr h="0">
                <a:tc>
                  <a:txBody>
                    <a:bodyPr/>
                    <a:lstStyle/>
                    <a:p>
                      <a:pPr>
                        <a:buNone/>
                      </a:pPr>
                      <a:r>
                        <a:rPr lang="en-IN"/>
                        <a:t>Gradient Boosting</a:t>
                      </a:r>
                    </a:p>
                  </a:txBody>
                  <a:tcPr anchor="ctr"/>
                </a:tc>
                <a:tc>
                  <a:txBody>
                    <a:bodyPr/>
                    <a:lstStyle/>
                    <a:p>
                      <a:pPr>
                        <a:buNone/>
                      </a:pPr>
                      <a:r>
                        <a:rPr lang="en-IN"/>
                        <a:t>0.5350</a:t>
                      </a:r>
                    </a:p>
                  </a:txBody>
                  <a:tcPr anchor="ctr"/>
                </a:tc>
                <a:tc>
                  <a:txBody>
                    <a:bodyPr/>
                    <a:lstStyle/>
                    <a:p>
                      <a:pPr>
                        <a:buNone/>
                      </a:pPr>
                      <a:r>
                        <a:rPr lang="en-IN"/>
                        <a:t>161.8</a:t>
                      </a:r>
                    </a:p>
                  </a:txBody>
                  <a:tcPr anchor="ctr"/>
                </a:tc>
                <a:tc>
                  <a:txBody>
                    <a:bodyPr/>
                    <a:lstStyle/>
                    <a:p>
                      <a:pPr>
                        <a:buNone/>
                      </a:pPr>
                      <a:r>
                        <a:rPr lang="en-IN"/>
                        <a:t>261.9</a:t>
                      </a:r>
                    </a:p>
                  </a:txBody>
                  <a:tcPr anchor="ctr"/>
                </a:tc>
                <a:extLst>
                  <a:ext uri="{0D108BD9-81ED-4DB2-BD59-A6C34878D82A}">
                    <a16:rowId xmlns:a16="http://schemas.microsoft.com/office/drawing/2014/main" val="703373857"/>
                  </a:ext>
                </a:extLst>
              </a:tr>
              <a:tr h="0">
                <a:tc>
                  <a:txBody>
                    <a:bodyPr/>
                    <a:lstStyle/>
                    <a:p>
                      <a:pPr>
                        <a:buNone/>
                      </a:pPr>
                      <a:r>
                        <a:rPr lang="en-IN"/>
                        <a:t>HSRE</a:t>
                      </a:r>
                    </a:p>
                  </a:txBody>
                  <a:tcPr anchor="ctr"/>
                </a:tc>
                <a:tc>
                  <a:txBody>
                    <a:bodyPr/>
                    <a:lstStyle/>
                    <a:p>
                      <a:pPr>
                        <a:buNone/>
                      </a:pPr>
                      <a:r>
                        <a:rPr lang="en-IN"/>
                        <a:t>0.5574</a:t>
                      </a:r>
                    </a:p>
                  </a:txBody>
                  <a:tcPr anchor="ctr"/>
                </a:tc>
                <a:tc>
                  <a:txBody>
                    <a:bodyPr/>
                    <a:lstStyle/>
                    <a:p>
                      <a:pPr>
                        <a:buNone/>
                      </a:pPr>
                      <a:r>
                        <a:rPr lang="en-IN"/>
                        <a:t>164.2</a:t>
                      </a:r>
                    </a:p>
                  </a:txBody>
                  <a:tcPr anchor="ctr"/>
                </a:tc>
                <a:tc>
                  <a:txBody>
                    <a:bodyPr/>
                    <a:lstStyle/>
                    <a:p>
                      <a:pPr>
                        <a:buNone/>
                      </a:pPr>
                      <a:r>
                        <a:rPr lang="en-IN" dirty="0"/>
                        <a:t>255.5</a:t>
                      </a:r>
                    </a:p>
                  </a:txBody>
                  <a:tcPr anchor="ctr"/>
                </a:tc>
                <a:extLst>
                  <a:ext uri="{0D108BD9-81ED-4DB2-BD59-A6C34878D82A}">
                    <a16:rowId xmlns:a16="http://schemas.microsoft.com/office/drawing/2014/main" val="946964210"/>
                  </a:ext>
                </a:extLst>
              </a:tr>
            </a:tbl>
          </a:graphicData>
        </a:graphic>
      </p:graphicFrame>
      <p:sp>
        <p:nvSpPr>
          <p:cNvPr id="6" name="TextBox 5">
            <a:extLst>
              <a:ext uri="{FF2B5EF4-FFF2-40B4-BE49-F238E27FC236}">
                <a16:creationId xmlns:a16="http://schemas.microsoft.com/office/drawing/2014/main" id="{D5A30837-05A6-4560-9E76-02865F2F6ABA}"/>
              </a:ext>
            </a:extLst>
          </p:cNvPr>
          <p:cNvSpPr txBox="1"/>
          <p:nvPr/>
        </p:nvSpPr>
        <p:spPr>
          <a:xfrm>
            <a:off x="607976" y="1865239"/>
            <a:ext cx="6097248" cy="369332"/>
          </a:xfrm>
          <a:prstGeom prst="rect">
            <a:avLst/>
          </a:prstGeom>
          <a:noFill/>
        </p:spPr>
        <p:txBody>
          <a:bodyPr wrap="square">
            <a:spAutoFit/>
          </a:bodyPr>
          <a:lstStyle/>
          <a:p>
            <a:pPr>
              <a:buNone/>
            </a:pPr>
            <a:r>
              <a:rPr lang="en-IN" b="1" dirty="0"/>
              <a:t>4. Supermarket Dataset</a:t>
            </a:r>
          </a:p>
        </p:txBody>
      </p:sp>
      <p:sp>
        <p:nvSpPr>
          <p:cNvPr id="8" name="TextBox 7">
            <a:extLst>
              <a:ext uri="{FF2B5EF4-FFF2-40B4-BE49-F238E27FC236}">
                <a16:creationId xmlns:a16="http://schemas.microsoft.com/office/drawing/2014/main" id="{259112AB-3E66-BCD4-A28D-8495F718DB5E}"/>
              </a:ext>
            </a:extLst>
          </p:cNvPr>
          <p:cNvSpPr txBox="1"/>
          <p:nvPr/>
        </p:nvSpPr>
        <p:spPr>
          <a:xfrm>
            <a:off x="607976" y="5077041"/>
            <a:ext cx="8828332" cy="646331"/>
          </a:xfrm>
          <a:prstGeom prst="rect">
            <a:avLst/>
          </a:prstGeom>
          <a:noFill/>
        </p:spPr>
        <p:txBody>
          <a:bodyPr wrap="square">
            <a:spAutoFit/>
          </a:bodyPr>
          <a:lstStyle/>
          <a:p>
            <a:r>
              <a:rPr lang="en-IN" b="1" dirty="0"/>
              <a:t>Result:</a:t>
            </a:r>
            <a:r>
              <a:rPr lang="en-IN" dirty="0"/>
              <a:t> HSRE achieved the </a:t>
            </a:r>
            <a:r>
              <a:rPr lang="en-IN" b="1" dirty="0"/>
              <a:t>highest R² and lowest RMSE</a:t>
            </a:r>
            <a:r>
              <a:rPr lang="en-IN" dirty="0"/>
              <a:t>, while Random Forest achieved the lowest MAE.</a:t>
            </a:r>
          </a:p>
        </p:txBody>
      </p:sp>
    </p:spTree>
    <p:extLst>
      <p:ext uri="{BB962C8B-B14F-4D97-AF65-F5344CB8AC3E}">
        <p14:creationId xmlns:p14="http://schemas.microsoft.com/office/powerpoint/2010/main" val="36603402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D2382-2115-86A4-D0AD-0E02CB68F6AA}"/>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DE28C7E4-8954-2EEB-3210-1FDCFA7EF549}"/>
              </a:ext>
            </a:extLst>
          </p:cNvPr>
          <p:cNvGraphicFramePr>
            <a:graphicFrameLocks noGrp="1"/>
          </p:cNvGraphicFramePr>
          <p:nvPr>
            <p:ph idx="1"/>
          </p:nvPr>
        </p:nvGraphicFramePr>
        <p:xfrm>
          <a:off x="608013" y="2955925"/>
          <a:ext cx="10969626" cy="1828800"/>
        </p:xfrm>
        <a:graphic>
          <a:graphicData uri="http://schemas.openxmlformats.org/drawingml/2006/table">
            <a:tbl>
              <a:tblPr>
                <a:tableStyleId>{5C22544A-7EE6-4342-B048-85BDC9FD1C3A}</a:tableStyleId>
              </a:tblPr>
              <a:tblGrid>
                <a:gridCol w="3656542">
                  <a:extLst>
                    <a:ext uri="{9D8B030D-6E8A-4147-A177-3AD203B41FA5}">
                      <a16:colId xmlns:a16="http://schemas.microsoft.com/office/drawing/2014/main" val="1094097485"/>
                    </a:ext>
                  </a:extLst>
                </a:gridCol>
                <a:gridCol w="3656542">
                  <a:extLst>
                    <a:ext uri="{9D8B030D-6E8A-4147-A177-3AD203B41FA5}">
                      <a16:colId xmlns:a16="http://schemas.microsoft.com/office/drawing/2014/main" val="441535153"/>
                    </a:ext>
                  </a:extLst>
                </a:gridCol>
                <a:gridCol w="3656542">
                  <a:extLst>
                    <a:ext uri="{9D8B030D-6E8A-4147-A177-3AD203B41FA5}">
                      <a16:colId xmlns:a16="http://schemas.microsoft.com/office/drawing/2014/main" val="1297188533"/>
                    </a:ext>
                  </a:extLst>
                </a:gridCol>
              </a:tblGrid>
              <a:tr h="365760">
                <a:tc>
                  <a:txBody>
                    <a:bodyPr/>
                    <a:lstStyle/>
                    <a:p>
                      <a:pPr>
                        <a:buNone/>
                      </a:pPr>
                      <a:r>
                        <a:rPr lang="en-IN" sz="1800"/>
                        <a:t>Dataset</a:t>
                      </a:r>
                    </a:p>
                  </a:txBody>
                  <a:tcPr anchor="ctr"/>
                </a:tc>
                <a:tc>
                  <a:txBody>
                    <a:bodyPr/>
                    <a:lstStyle/>
                    <a:p>
                      <a:pPr>
                        <a:buNone/>
                      </a:pPr>
                      <a:r>
                        <a:rPr lang="en-IN" sz="1800"/>
                        <a:t>Best Model</a:t>
                      </a:r>
                    </a:p>
                  </a:txBody>
                  <a:tcPr anchor="ctr"/>
                </a:tc>
                <a:tc>
                  <a:txBody>
                    <a:bodyPr/>
                    <a:lstStyle/>
                    <a:p>
                      <a:pPr>
                        <a:buNone/>
                      </a:pPr>
                      <a:r>
                        <a:rPr lang="en-IN" sz="1800"/>
                        <a:t>R²</a:t>
                      </a:r>
                    </a:p>
                  </a:txBody>
                  <a:tcPr anchor="ctr"/>
                </a:tc>
                <a:extLst>
                  <a:ext uri="{0D108BD9-81ED-4DB2-BD59-A6C34878D82A}">
                    <a16:rowId xmlns:a16="http://schemas.microsoft.com/office/drawing/2014/main" val="1160736085"/>
                  </a:ext>
                </a:extLst>
              </a:tr>
              <a:tr h="365760">
                <a:tc>
                  <a:txBody>
                    <a:bodyPr/>
                    <a:lstStyle/>
                    <a:p>
                      <a:pPr>
                        <a:buNone/>
                      </a:pPr>
                      <a:r>
                        <a:rPr lang="en-IN" sz="1800"/>
                        <a:t>Superstore</a:t>
                      </a:r>
                    </a:p>
                  </a:txBody>
                  <a:tcPr anchor="ctr"/>
                </a:tc>
                <a:tc>
                  <a:txBody>
                    <a:bodyPr/>
                    <a:lstStyle/>
                    <a:p>
                      <a:pPr>
                        <a:buNone/>
                      </a:pPr>
                      <a:r>
                        <a:rPr lang="en-IN" sz="1800"/>
                        <a:t>Linear Regression</a:t>
                      </a:r>
                    </a:p>
                  </a:txBody>
                  <a:tcPr anchor="ctr"/>
                </a:tc>
                <a:tc>
                  <a:txBody>
                    <a:bodyPr/>
                    <a:lstStyle/>
                    <a:p>
                      <a:pPr>
                        <a:buNone/>
                      </a:pPr>
                      <a:r>
                        <a:rPr lang="en-IN" sz="1800"/>
                        <a:t>0.2970</a:t>
                      </a:r>
                    </a:p>
                  </a:txBody>
                  <a:tcPr anchor="ctr"/>
                </a:tc>
                <a:extLst>
                  <a:ext uri="{0D108BD9-81ED-4DB2-BD59-A6C34878D82A}">
                    <a16:rowId xmlns:a16="http://schemas.microsoft.com/office/drawing/2014/main" val="861263265"/>
                  </a:ext>
                </a:extLst>
              </a:tr>
              <a:tr h="365760">
                <a:tc>
                  <a:txBody>
                    <a:bodyPr/>
                    <a:lstStyle/>
                    <a:p>
                      <a:pPr>
                        <a:buNone/>
                      </a:pPr>
                      <a:r>
                        <a:rPr lang="en-IN" sz="1800"/>
                        <a:t>Global Superstore</a:t>
                      </a:r>
                    </a:p>
                  </a:txBody>
                  <a:tcPr anchor="ctr"/>
                </a:tc>
                <a:tc>
                  <a:txBody>
                    <a:bodyPr/>
                    <a:lstStyle/>
                    <a:p>
                      <a:pPr>
                        <a:buNone/>
                      </a:pPr>
                      <a:r>
                        <a:rPr lang="en-IN" sz="1800"/>
                        <a:t>Gradient Boosting</a:t>
                      </a:r>
                    </a:p>
                  </a:txBody>
                  <a:tcPr anchor="ctr"/>
                </a:tc>
                <a:tc>
                  <a:txBody>
                    <a:bodyPr/>
                    <a:lstStyle/>
                    <a:p>
                      <a:pPr>
                        <a:buNone/>
                      </a:pPr>
                      <a:r>
                        <a:rPr lang="en-IN" sz="1800"/>
                        <a:t>0.4568</a:t>
                      </a:r>
                    </a:p>
                  </a:txBody>
                  <a:tcPr anchor="ctr"/>
                </a:tc>
                <a:extLst>
                  <a:ext uri="{0D108BD9-81ED-4DB2-BD59-A6C34878D82A}">
                    <a16:rowId xmlns:a16="http://schemas.microsoft.com/office/drawing/2014/main" val="2113982873"/>
                  </a:ext>
                </a:extLst>
              </a:tr>
              <a:tr h="365760">
                <a:tc>
                  <a:txBody>
                    <a:bodyPr/>
                    <a:lstStyle/>
                    <a:p>
                      <a:pPr>
                        <a:buNone/>
                      </a:pPr>
                      <a:r>
                        <a:rPr lang="en-IN" sz="1800"/>
                        <a:t>Online Sales</a:t>
                      </a:r>
                    </a:p>
                  </a:txBody>
                  <a:tcPr anchor="ctr"/>
                </a:tc>
                <a:tc>
                  <a:txBody>
                    <a:bodyPr/>
                    <a:lstStyle/>
                    <a:p>
                      <a:pPr>
                        <a:buNone/>
                      </a:pPr>
                      <a:r>
                        <a:rPr lang="en-IN" sz="1800"/>
                        <a:t>HSRE</a:t>
                      </a:r>
                    </a:p>
                  </a:txBody>
                  <a:tcPr anchor="ctr"/>
                </a:tc>
                <a:tc>
                  <a:txBody>
                    <a:bodyPr/>
                    <a:lstStyle/>
                    <a:p>
                      <a:pPr>
                        <a:buNone/>
                      </a:pPr>
                      <a:r>
                        <a:rPr lang="en-IN" sz="1800"/>
                        <a:t>0.2726</a:t>
                      </a:r>
                    </a:p>
                  </a:txBody>
                  <a:tcPr anchor="ctr"/>
                </a:tc>
                <a:extLst>
                  <a:ext uri="{0D108BD9-81ED-4DB2-BD59-A6C34878D82A}">
                    <a16:rowId xmlns:a16="http://schemas.microsoft.com/office/drawing/2014/main" val="641198139"/>
                  </a:ext>
                </a:extLst>
              </a:tr>
              <a:tr h="365760">
                <a:tc>
                  <a:txBody>
                    <a:bodyPr/>
                    <a:lstStyle/>
                    <a:p>
                      <a:pPr>
                        <a:buNone/>
                      </a:pPr>
                      <a:r>
                        <a:rPr lang="en-IN" sz="1800"/>
                        <a:t>Supermarket</a:t>
                      </a:r>
                    </a:p>
                  </a:txBody>
                  <a:tcPr anchor="ctr"/>
                </a:tc>
                <a:tc>
                  <a:txBody>
                    <a:bodyPr/>
                    <a:lstStyle/>
                    <a:p>
                      <a:pPr>
                        <a:buNone/>
                      </a:pPr>
                      <a:r>
                        <a:rPr lang="en-IN" sz="1800"/>
                        <a:t>HSRE</a:t>
                      </a:r>
                    </a:p>
                  </a:txBody>
                  <a:tcPr anchor="ctr"/>
                </a:tc>
                <a:tc>
                  <a:txBody>
                    <a:bodyPr/>
                    <a:lstStyle/>
                    <a:p>
                      <a:pPr>
                        <a:buNone/>
                      </a:pPr>
                      <a:r>
                        <a:rPr lang="en-IN" sz="1800" dirty="0"/>
                        <a:t>0.5574</a:t>
                      </a:r>
                    </a:p>
                  </a:txBody>
                  <a:tcPr anchor="ctr"/>
                </a:tc>
                <a:extLst>
                  <a:ext uri="{0D108BD9-81ED-4DB2-BD59-A6C34878D82A}">
                    <a16:rowId xmlns:a16="http://schemas.microsoft.com/office/drawing/2014/main" val="3259425937"/>
                  </a:ext>
                </a:extLst>
              </a:tr>
            </a:tbl>
          </a:graphicData>
        </a:graphic>
      </p:graphicFrame>
      <p:sp>
        <p:nvSpPr>
          <p:cNvPr id="6" name="TextBox 5">
            <a:extLst>
              <a:ext uri="{FF2B5EF4-FFF2-40B4-BE49-F238E27FC236}">
                <a16:creationId xmlns:a16="http://schemas.microsoft.com/office/drawing/2014/main" id="{EFFFCF02-66FB-2FF4-87B1-503CFEF7B408}"/>
              </a:ext>
            </a:extLst>
          </p:cNvPr>
          <p:cNvSpPr txBox="1"/>
          <p:nvPr/>
        </p:nvSpPr>
        <p:spPr>
          <a:xfrm>
            <a:off x="695170" y="2056524"/>
            <a:ext cx="10375066" cy="646331"/>
          </a:xfrm>
          <a:prstGeom prst="rect">
            <a:avLst/>
          </a:prstGeom>
          <a:noFill/>
        </p:spPr>
        <p:txBody>
          <a:bodyPr wrap="square">
            <a:spAutoFit/>
          </a:bodyPr>
          <a:lstStyle/>
          <a:p>
            <a:pPr>
              <a:buNone/>
            </a:pPr>
            <a:r>
              <a:rPr lang="en-IN" b="1" dirty="0"/>
              <a:t>Overall Performance Summary</a:t>
            </a:r>
          </a:p>
          <a:p>
            <a:pPr>
              <a:buNone/>
            </a:pPr>
            <a:r>
              <a:rPr lang="en-IN" b="1" dirty="0"/>
              <a:t>Best model according to R²</a:t>
            </a:r>
          </a:p>
        </p:txBody>
      </p:sp>
    </p:spTree>
    <p:extLst>
      <p:ext uri="{BB962C8B-B14F-4D97-AF65-F5344CB8AC3E}">
        <p14:creationId xmlns:p14="http://schemas.microsoft.com/office/powerpoint/2010/main" val="28295915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2004060" y="440055"/>
            <a:ext cx="9206230" cy="705485"/>
          </a:xfrm>
        </p:spPr>
        <p:txBody>
          <a:bodyPr>
            <a:normAutofit fontScale="90000"/>
          </a:bodyPr>
          <a:lstStyle/>
          <a:p>
            <a:pPr algn="ctr"/>
            <a:r>
              <a:rPr lang="en-US" altLang="en-US" b="1">
                <a:latin typeface="Times New Roman" panose="02020603050405020304" pitchFamily="18" charset="0"/>
                <a:cs typeface="Times New Roman" panose="02020603050405020304" pitchFamily="18" charset="0"/>
              </a:rPr>
              <a:t>Comparison of multiple hybrid combinations</a:t>
            </a:r>
          </a:p>
        </p:txBody>
      </p:sp>
      <p:sp>
        <p:nvSpPr>
          <p:cNvPr id="3" name="Content Placeholder 2"/>
          <p:cNvSpPr>
            <a:spLocks noGrp="1"/>
          </p:cNvSpPr>
          <p:nvPr>
            <p:ph idx="1"/>
            <p:custDataLst>
              <p:tags r:id="rId3"/>
            </p:custDataLst>
          </p:nvPr>
        </p:nvSpPr>
        <p:spPr>
          <a:xfrm>
            <a:off x="608330" y="2117090"/>
            <a:ext cx="10968990" cy="3676650"/>
          </a:xfrm>
        </p:spPr>
        <p:txBody>
          <a:bodyPr/>
          <a:lstStyle/>
          <a:p>
            <a:r>
              <a:rPr lang="en-IN" dirty="0"/>
              <a:t>The proposed approach evaluates multiple regression learners and combines their predictions using a stacking architecture. The baseline models include </a:t>
            </a:r>
            <a:r>
              <a:rPr lang="en-IN" b="1" dirty="0"/>
              <a:t>Linear Regression, Decision Tree, Random Forest, and Gradient Boosting</a:t>
            </a:r>
            <a:r>
              <a:rPr lang="en-IN" dirty="0"/>
              <a:t>. Their individual performance is compared with the proposed </a:t>
            </a:r>
            <a:r>
              <a:rPr lang="en-IN" b="1" dirty="0"/>
              <a:t>Hybrid Stacked Regression Ensemble (HSRE)</a:t>
            </a:r>
            <a:r>
              <a:rPr lang="en-IN" dirty="0"/>
              <a:t> using R², MAE, and RMSE.</a:t>
            </a:r>
          </a:p>
          <a:p>
            <a:r>
              <a:rPr lang="en-IN" dirty="0"/>
              <a:t>The comparison helps determine whether combining different regression learners through a meta-learning stage provides a useful alternative to individual models for sales prediction.</a:t>
            </a:r>
          </a:p>
        </p:txBody>
      </p:sp>
      <p:pic>
        <p:nvPicPr>
          <p:cNvPr id="21506" name="Picture 2" descr="Koneru Lakshmaiah Education Foundation, Bachupally Campus Courses ..."/>
          <p:cNvPicPr>
            <a:picLocks noChangeAspect="1" noChangeArrowheads="1"/>
          </p:cNvPicPr>
          <p:nvPr/>
        </p:nvPicPr>
        <p:blipFill>
          <a:blip r:embed="rId5"/>
          <a:srcRect t="16961" b="27101"/>
          <a:stretch>
            <a:fillRect/>
          </a:stretch>
        </p:blipFill>
        <p:spPr bwMode="auto">
          <a:xfrm>
            <a:off x="0" y="0"/>
            <a:ext cx="2095500" cy="1145540"/>
          </a:xfrm>
          <a:prstGeom prst="rect">
            <a:avLst/>
          </a:prstGeom>
          <a:noFill/>
        </p:spPr>
      </p:pic>
    </p:spTree>
    <p:custDataLst>
      <p:tags r:id="rId1"/>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2522855" y="636905"/>
            <a:ext cx="8463280" cy="705485"/>
          </a:xfrm>
        </p:spPr>
        <p:txBody>
          <a:bodyPr>
            <a:normAutofit fontScale="90000"/>
          </a:bodyPr>
          <a:lstStyle/>
          <a:p>
            <a:pPr algn="ctr"/>
            <a:r>
              <a:rPr lang="en-US" altLang="en-US" b="1">
                <a:latin typeface="Times New Roman" panose="02020603050405020304" pitchFamily="18" charset="0"/>
                <a:cs typeface="Times New Roman" panose="02020603050405020304" pitchFamily="18" charset="0"/>
              </a:rPr>
              <a:t>Justification for selecting the final hybrid model</a:t>
            </a:r>
          </a:p>
        </p:txBody>
      </p:sp>
      <p:sp>
        <p:nvSpPr>
          <p:cNvPr id="3" name="Content Placeholder 2"/>
          <p:cNvSpPr>
            <a:spLocks noGrp="1"/>
          </p:cNvSpPr>
          <p:nvPr>
            <p:ph idx="1"/>
            <p:custDataLst>
              <p:tags r:id="rId3"/>
            </p:custDataLst>
          </p:nvPr>
        </p:nvSpPr>
        <p:spPr>
          <a:xfrm>
            <a:off x="611505" y="2143760"/>
            <a:ext cx="10968990" cy="3614420"/>
          </a:xfrm>
        </p:spPr>
        <p:txBody>
          <a:bodyPr>
            <a:normAutofit fontScale="77500" lnSpcReduction="20000"/>
          </a:bodyPr>
          <a:lstStyle/>
          <a:p>
            <a:r>
              <a:rPr lang="en-IN" dirty="0"/>
              <a:t>The </a:t>
            </a:r>
            <a:r>
              <a:rPr lang="en-IN" b="1" dirty="0"/>
              <a:t>Hybrid Stacked Regression Ensemble (HSRE)</a:t>
            </a:r>
            <a:r>
              <a:rPr lang="en-IN" dirty="0"/>
              <a:t> was selected as the proposed hybrid architecture because it combines the predictions of multiple regression models through a meta-learner.</a:t>
            </a:r>
          </a:p>
          <a:p>
            <a:r>
              <a:rPr lang="en-IN" dirty="0"/>
              <a:t>The base learners capture different types of relationships in the sales data:</a:t>
            </a:r>
          </a:p>
          <a:p>
            <a:pPr lvl="0"/>
            <a:r>
              <a:rPr lang="en-IN" b="1" dirty="0"/>
              <a:t>Linear Regression</a:t>
            </a:r>
            <a:r>
              <a:rPr lang="en-IN" dirty="0"/>
              <a:t> – captures linear relationships.</a:t>
            </a:r>
          </a:p>
          <a:p>
            <a:pPr lvl="0"/>
            <a:r>
              <a:rPr lang="en-IN" b="1" dirty="0"/>
              <a:t>Decision Tree</a:t>
            </a:r>
            <a:r>
              <a:rPr lang="en-IN" dirty="0"/>
              <a:t> – captures non-linear decision patterns.</a:t>
            </a:r>
          </a:p>
          <a:p>
            <a:pPr lvl="0"/>
            <a:r>
              <a:rPr lang="en-IN" b="1" dirty="0"/>
              <a:t>Random Forest</a:t>
            </a:r>
            <a:r>
              <a:rPr lang="en-IN" dirty="0"/>
              <a:t> – combines multiple decision trees for robust predictions.</a:t>
            </a:r>
          </a:p>
          <a:p>
            <a:pPr lvl="0"/>
            <a:r>
              <a:rPr lang="en-IN" b="1" dirty="0"/>
              <a:t>Gradient Boosting</a:t>
            </a:r>
            <a:r>
              <a:rPr lang="en-IN" dirty="0"/>
              <a:t> – sequentially improves prediction performance.</a:t>
            </a:r>
          </a:p>
          <a:p>
            <a:r>
              <a:rPr lang="en-IN" dirty="0"/>
              <a:t>The final HSRE prediction is generated by learning from the outputs of these base models.</a:t>
            </a:r>
          </a:p>
          <a:p>
            <a:r>
              <a:rPr lang="en-IN" b="1" dirty="0"/>
              <a:t>Important:</a:t>
            </a:r>
            <a:r>
              <a:rPr lang="en-IN" dirty="0"/>
              <a:t> Based on the current experimental results, HSRE should not be claimed to be the best-performing model on every metric. The project presents HSRE as the </a:t>
            </a:r>
            <a:r>
              <a:rPr lang="en-IN" b="1" dirty="0"/>
              <a:t>proposed hybrid architecture</a:t>
            </a:r>
            <a:r>
              <a:rPr lang="en-IN" dirty="0"/>
              <a:t> and objectively compares its performance with the baseline models.</a:t>
            </a:r>
          </a:p>
        </p:txBody>
      </p:sp>
      <p:pic>
        <p:nvPicPr>
          <p:cNvPr id="21506" name="Picture 2" descr="Koneru Lakshmaiah Education Foundation, Bachupally Campus Courses ..."/>
          <p:cNvPicPr>
            <a:picLocks noChangeAspect="1" noChangeArrowheads="1"/>
          </p:cNvPicPr>
          <p:nvPr/>
        </p:nvPicPr>
        <p:blipFill>
          <a:blip r:embed="rId5"/>
          <a:srcRect t="16961" b="27101"/>
          <a:stretch>
            <a:fillRect/>
          </a:stretch>
        </p:blipFill>
        <p:spPr bwMode="auto">
          <a:xfrm>
            <a:off x="0" y="0"/>
            <a:ext cx="2095500" cy="1145540"/>
          </a:xfrm>
          <a:prstGeom prst="rect">
            <a:avLst/>
          </a:prstGeom>
          <a:noFill/>
        </p:spPr>
      </p:pic>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2317750" y="323215"/>
            <a:ext cx="8024495" cy="705485"/>
          </a:xfrm>
        </p:spPr>
        <p:txBody>
          <a:bodyPr/>
          <a:lstStyle/>
          <a:p>
            <a:pPr algn="ctr"/>
            <a:r>
              <a:rPr lang="en-US" altLang="en-US" b="1">
                <a:latin typeface="Times New Roman" panose="02020603050405020304" pitchFamily="18" charset="0"/>
                <a:cs typeface="Times New Roman" panose="02020603050405020304" pitchFamily="18" charset="0"/>
              </a:rPr>
              <a:t> literature review</a:t>
            </a:r>
          </a:p>
        </p:txBody>
      </p:sp>
      <p:sp>
        <p:nvSpPr>
          <p:cNvPr id="3" name="Content Placeholder 2"/>
          <p:cNvSpPr>
            <a:spLocks noGrp="1"/>
          </p:cNvSpPr>
          <p:nvPr>
            <p:ph idx="1"/>
            <p:custDataLst>
              <p:tags r:id="rId3"/>
            </p:custDataLst>
          </p:nvPr>
        </p:nvSpPr>
        <p:spPr/>
        <p:txBody>
          <a:bodyPr>
            <a:noAutofit/>
          </a:bodyPr>
          <a:lstStyle/>
          <a:p>
            <a:pPr lvl="0"/>
            <a:r>
              <a:rPr lang="en-IN" sz="1600" b="1" dirty="0"/>
              <a:t>Data Storytelling:</a:t>
            </a:r>
            <a:r>
              <a:rPr lang="en-IN" sz="1600" dirty="0"/>
              <a:t> Existing studies demonstrate how storytelling can improve the communication and interpretation of analytical results.</a:t>
            </a:r>
          </a:p>
          <a:p>
            <a:pPr lvl="0"/>
            <a:r>
              <a:rPr lang="en-IN" sz="1600" b="1" dirty="0"/>
              <a:t>Interactive Visual Analytics:</a:t>
            </a:r>
            <a:r>
              <a:rPr lang="en-IN" sz="1600" dirty="0"/>
              <a:t> Research shows that interactive visualizations help users explore patterns and relationships in complex datasets.</a:t>
            </a:r>
          </a:p>
          <a:p>
            <a:pPr lvl="0"/>
            <a:r>
              <a:rPr lang="en-IN" sz="1600" b="1" dirty="0"/>
              <a:t>Business Intelligence &amp; Dashboards:</a:t>
            </a:r>
            <a:r>
              <a:rPr lang="en-IN" sz="1600" dirty="0"/>
              <a:t> Existing studies use dashboards and visual analytics to support business monitoring and decision-making.</a:t>
            </a:r>
          </a:p>
          <a:p>
            <a:pPr lvl="0"/>
            <a:r>
              <a:rPr lang="en-IN" sz="1600" b="1" dirty="0"/>
              <a:t>Data-Driven Decision Making:</a:t>
            </a:r>
            <a:r>
              <a:rPr lang="en-IN" sz="1600" dirty="0"/>
              <a:t> Research highlights the importance of analytical information in improving organizational decision processes.</a:t>
            </a:r>
          </a:p>
          <a:p>
            <a:pPr lvl="0"/>
            <a:r>
              <a:rPr lang="en-IN" sz="1600" b="1" dirty="0"/>
              <a:t>Machine Learning for Prediction:</a:t>
            </a:r>
            <a:r>
              <a:rPr lang="en-IN" sz="1600" dirty="0"/>
              <a:t> Existing studies demonstrate the use of regression and ensemble models for predictive analytics.</a:t>
            </a:r>
          </a:p>
          <a:p>
            <a:pPr lvl="0"/>
            <a:r>
              <a:rPr lang="en-IN" sz="1600" b="1" dirty="0"/>
              <a:t>Ensemble and Stacking Methods:</a:t>
            </a:r>
            <a:r>
              <a:rPr lang="en-IN" sz="1600" dirty="0"/>
              <a:t> Existing machine-learning research shows that combining multiple learners can provide an alternative to relying on a single predictive model.</a:t>
            </a:r>
          </a:p>
        </p:txBody>
      </p:sp>
      <p:pic>
        <p:nvPicPr>
          <p:cNvPr id="21506" name="Picture 2" descr="Koneru Lakshmaiah Education Foundation, Bachupally Campus Courses ..."/>
          <p:cNvPicPr>
            <a:picLocks noChangeAspect="1" noChangeArrowheads="1"/>
          </p:cNvPicPr>
          <p:nvPr/>
        </p:nvPicPr>
        <p:blipFill>
          <a:blip r:embed="rId5"/>
          <a:srcRect t="16961" b="27101"/>
          <a:stretch>
            <a:fillRect/>
          </a:stretch>
        </p:blipFill>
        <p:spPr bwMode="auto">
          <a:xfrm>
            <a:off x="0" y="0"/>
            <a:ext cx="2095500" cy="1145540"/>
          </a:xfrm>
          <a:prstGeom prst="rect">
            <a:avLst/>
          </a:prstGeom>
          <a:noFill/>
        </p:spPr>
      </p:pic>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2095500" y="628015"/>
            <a:ext cx="9250045" cy="705485"/>
          </a:xfrm>
        </p:spPr>
        <p:txBody>
          <a:bodyPr>
            <a:normAutofit fontScale="90000"/>
          </a:bodyPr>
          <a:lstStyle/>
          <a:p>
            <a:pPr algn="ctr"/>
            <a:r>
              <a:rPr lang="en-US" b="1" dirty="0">
                <a:latin typeface="Times New Roman" panose="02020603050405020304" pitchFamily="18" charset="0"/>
                <a:cs typeface="Times New Roman" panose="02020603050405020304" pitchFamily="18" charset="0"/>
                <a:sym typeface="+mn-ea"/>
              </a:rPr>
              <a:t>Literature-based novelty verification</a:t>
            </a:r>
            <a:br>
              <a:rPr lang="en-US" b="1" dirty="0">
                <a:latin typeface="Times New Roman" panose="02020603050405020304" pitchFamily="18" charset="0"/>
                <a:cs typeface="Times New Roman" panose="02020603050405020304" pitchFamily="18" charset="0"/>
              </a:rPr>
            </a:br>
            <a:endParaRPr lang="en-US"/>
          </a:p>
        </p:txBody>
      </p:sp>
      <p:sp>
        <p:nvSpPr>
          <p:cNvPr id="3" name="Content Placeholder 2"/>
          <p:cNvSpPr>
            <a:spLocks noGrp="1"/>
          </p:cNvSpPr>
          <p:nvPr>
            <p:ph idx="1"/>
            <p:custDataLst>
              <p:tags r:id="rId3"/>
            </p:custDataLst>
          </p:nvPr>
        </p:nvSpPr>
        <p:spPr>
          <a:xfrm>
            <a:off x="608330" y="1821180"/>
            <a:ext cx="10968990" cy="4401820"/>
          </a:xfrm>
        </p:spPr>
        <p:txBody>
          <a:bodyPr>
            <a:noAutofit/>
          </a:bodyPr>
          <a:lstStyle/>
          <a:p>
            <a:pPr lvl="0"/>
            <a:r>
              <a:rPr lang="en-IN" sz="1600" b="1" dirty="0"/>
              <a:t>Heterogeneous Dataset Integration:</a:t>
            </a:r>
            <a:r>
              <a:rPr lang="en-IN" sz="1600" dirty="0"/>
              <a:t> Existing studies often focus on individual datasets or specific business problems. Our project evaluates multiple sales datasets with different schemas within one analytical framework.</a:t>
            </a:r>
          </a:p>
          <a:p>
            <a:pPr lvl="0"/>
            <a:r>
              <a:rPr lang="en-IN" sz="1600" b="1" dirty="0"/>
              <a:t>Interactive Decision Analytics:</a:t>
            </a:r>
            <a:r>
              <a:rPr lang="en-IN" sz="1600" dirty="0"/>
              <a:t> Existing work provides dashboards and visualizations, but there is scope for integrating dataset-aware analysis with a structured decision-oriented storytelling process.</a:t>
            </a:r>
          </a:p>
          <a:p>
            <a:pPr lvl="0"/>
            <a:r>
              <a:rPr lang="en-IN" sz="1600" b="1" dirty="0"/>
              <a:t>Comparative ML Analysis:</a:t>
            </a:r>
            <a:r>
              <a:rPr lang="en-IN" sz="1600" dirty="0"/>
              <a:t> Existing studies commonly evaluate individual prediction models. Our project compares multiple literature-based regression models under a common experimental setup.</a:t>
            </a:r>
          </a:p>
          <a:p>
            <a:pPr lvl="0"/>
            <a:r>
              <a:rPr lang="en-IN" sz="1600" b="1" dirty="0"/>
              <a:t>Hybrid Prediction:</a:t>
            </a:r>
            <a:r>
              <a:rPr lang="en-IN" sz="1600" dirty="0"/>
              <a:t> The project proposes </a:t>
            </a:r>
            <a:r>
              <a:rPr lang="en-IN" sz="1600" b="1" dirty="0"/>
              <a:t>HSRE</a:t>
            </a:r>
            <a:r>
              <a:rPr lang="en-IN" sz="1600" dirty="0"/>
              <a:t>, which combines multiple regression learners through stacking and evaluates it against the individual baseline models.</a:t>
            </a:r>
          </a:p>
          <a:p>
            <a:pPr lvl="0"/>
            <a:r>
              <a:rPr lang="en-IN" sz="1600" b="1" dirty="0"/>
              <a:t>Integrated Analytics Platform:</a:t>
            </a:r>
            <a:r>
              <a:rPr lang="en-IN" sz="1600" dirty="0"/>
              <a:t> The project combines descriptive analytics, predictive modelling, interactive visualization, data storytelling, and decision support in one platform.</a:t>
            </a:r>
          </a:p>
        </p:txBody>
      </p:sp>
      <p:pic>
        <p:nvPicPr>
          <p:cNvPr id="21506" name="Picture 2" descr="Koneru Lakshmaiah Education Foundation, Bachupally Campus Courses ..."/>
          <p:cNvPicPr>
            <a:picLocks noChangeAspect="1" noChangeArrowheads="1"/>
          </p:cNvPicPr>
          <p:nvPr/>
        </p:nvPicPr>
        <p:blipFill>
          <a:blip r:embed="rId5"/>
          <a:srcRect t="16961" b="27101"/>
          <a:stretch>
            <a:fillRect/>
          </a:stretch>
        </p:blipFill>
        <p:spPr bwMode="auto">
          <a:xfrm>
            <a:off x="0" y="0"/>
            <a:ext cx="2095500" cy="1145540"/>
          </a:xfrm>
          <a:prstGeom prst="rect">
            <a:avLst/>
          </a:prstGeom>
          <a:noFill/>
        </p:spPr>
      </p:pic>
    </p:spTree>
    <p:custDataLst>
      <p:tags r:id="rId1"/>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custDataLst>
              <p:tags r:id="rId2"/>
            </p:custDataLst>
          </p:nvPr>
        </p:nvSpPr>
        <p:spPr>
          <a:xfrm>
            <a:off x="545465" y="1814830"/>
            <a:ext cx="10968990" cy="3228975"/>
          </a:xfrm>
        </p:spPr>
        <p:txBody>
          <a:bodyPr/>
          <a:lstStyle/>
          <a:p>
            <a:pPr marL="0" indent="0" algn="ctr">
              <a:buNone/>
            </a:pPr>
            <a:r>
              <a:rPr lang="en-US" sz="6000" b="1">
                <a:solidFill>
                  <a:schemeClr val="tx1">
                    <a:lumMod val="95000"/>
                    <a:lumOff val="5000"/>
                  </a:schemeClr>
                </a:solidFill>
                <a:latin typeface="Times New Roman" panose="02020603050405020304" pitchFamily="18" charset="0"/>
                <a:cs typeface="Times New Roman" panose="02020603050405020304" pitchFamily="18" charset="0"/>
              </a:rPr>
              <a:t>THANK </a:t>
            </a:r>
          </a:p>
          <a:p>
            <a:pPr marL="0" indent="0" algn="ctr">
              <a:buNone/>
            </a:pPr>
            <a:r>
              <a:rPr lang="en-US" sz="6000" b="1">
                <a:solidFill>
                  <a:schemeClr val="tx1">
                    <a:lumMod val="95000"/>
                    <a:lumOff val="5000"/>
                  </a:schemeClr>
                </a:solidFill>
                <a:latin typeface="Times New Roman" panose="02020603050405020304" pitchFamily="18" charset="0"/>
                <a:cs typeface="Times New Roman" panose="02020603050405020304" pitchFamily="18" charset="0"/>
              </a:rPr>
              <a:t>YOU</a:t>
            </a:r>
          </a:p>
        </p:txBody>
      </p:sp>
      <p:pic>
        <p:nvPicPr>
          <p:cNvPr id="21506" name="Picture 2" descr="Koneru Lakshmaiah Education Foundation, Bachupally Campus Courses ..."/>
          <p:cNvPicPr>
            <a:picLocks noChangeAspect="1" noChangeArrowheads="1"/>
          </p:cNvPicPr>
          <p:nvPr/>
        </p:nvPicPr>
        <p:blipFill>
          <a:blip r:embed="rId4"/>
          <a:srcRect t="16961" b="27101"/>
          <a:stretch>
            <a:fillRect/>
          </a:stretch>
        </p:blipFill>
        <p:spPr bwMode="auto">
          <a:xfrm>
            <a:off x="0" y="0"/>
            <a:ext cx="2095500" cy="1145540"/>
          </a:xfrm>
          <a:prstGeom prst="rect">
            <a:avLst/>
          </a:prstGeom>
          <a:noFill/>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TotalTime>
  <Words>2991</Words>
  <Application>Microsoft Office PowerPoint</Application>
  <PresentationFormat>Widescreen</PresentationFormat>
  <Paragraphs>427</Paragraphs>
  <Slides>39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Arial</vt:lpstr>
      <vt:lpstr>Times New Roman</vt:lpstr>
      <vt:lpstr>Wingdings</vt:lpstr>
      <vt:lpstr>WPS</vt:lpstr>
      <vt:lpstr>DATA STORYTELLING TECHNIQUES FOR INTERACTIVE DECISION ANALYTICS  </vt:lpstr>
      <vt:lpstr>Problem Statement</vt:lpstr>
      <vt:lpstr>Objectives</vt:lpstr>
      <vt:lpstr>Literature Survey </vt:lpstr>
      <vt:lpstr>PowerPoint Presentation</vt:lpstr>
      <vt:lpstr>       Research Gap Identification</vt:lpstr>
      <vt:lpstr>Innovation</vt:lpstr>
      <vt:lpstr> Feasibility</vt:lpstr>
      <vt:lpstr>Project plan</vt:lpstr>
      <vt:lpstr>Methodology</vt:lpstr>
      <vt:lpstr>PowerPoint Presentation</vt:lpstr>
      <vt:lpstr>PowerPoint Presentation</vt:lpstr>
      <vt:lpstr>PowerPoint Presentation</vt:lpstr>
      <vt:lpstr>System Design and Methodology</vt:lpstr>
      <vt:lpstr>Modern Tools &amp; Technologies</vt:lpstr>
      <vt:lpstr>Implementation</vt:lpstr>
      <vt:lpstr>PowerPoint Presentation</vt:lpstr>
      <vt:lpstr>PowerPoint Presentation</vt:lpstr>
      <vt:lpstr>PowerPoint Presentation</vt:lpstr>
      <vt:lpstr>PowerPoint Presentation</vt:lpstr>
      <vt:lpstr>PowerPoint Presentation</vt:lpstr>
      <vt:lpstr>PowerPoint Presentation</vt:lpstr>
      <vt:lpstr>Results</vt:lpstr>
      <vt:lpstr>Performance Evaluation</vt:lpstr>
      <vt:lpstr>PowerPoint Presentation</vt:lpstr>
      <vt:lpstr>Implementation of the proposed hybrid model</vt:lpstr>
      <vt:lpstr>Experiments Using the Prescribed Datasets</vt:lpstr>
      <vt:lpstr>Training and testing results</vt:lpstr>
      <vt:lpstr>Comparison with relevant existing models from the literature</vt:lpstr>
      <vt:lpstr>Performance metrics and comparative results</vt:lpstr>
      <vt:lpstr>PowerPoint Presentation</vt:lpstr>
      <vt:lpstr>PowerPoint Presentation</vt:lpstr>
      <vt:lpstr>PowerPoint Presentation</vt:lpstr>
      <vt:lpstr>PowerPoint Presentation</vt:lpstr>
      <vt:lpstr>Comparison of multiple hybrid combinations</vt:lpstr>
      <vt:lpstr>Justification for selecting the final hybrid model</vt:lpstr>
      <vt:lpstr> literature review</vt:lpstr>
      <vt:lpstr>Literature-based novelty verification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dc:title>
  <dc:creator>mpsre</dc:creator>
  <cp:lastModifiedBy>CHARAN RATHANALA</cp:lastModifiedBy>
  <cp:revision>6</cp:revision>
  <dcterms:created xsi:type="dcterms:W3CDTF">2026-10-05T05:42:00Z</dcterms:created>
  <dcterms:modified xsi:type="dcterms:W3CDTF">2026-10-12T05:39:27Z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0C6A25CDCE4940BABB5ACFD21A1E864E_13</vt:lpwstr>
  </property>
</Properties>
</file>